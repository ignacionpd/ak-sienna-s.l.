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9" r:id="rId4"/>
    <p:sldId id="261" r:id="rId5"/>
    <p:sldId id="258" r:id="rId6"/>
    <p:sldId id="260" r:id="rId7"/>
    <p:sldId id="262" r:id="rId8"/>
    <p:sldId id="263" r:id="rId9"/>
    <p:sldId id="267" r:id="rId10"/>
    <p:sldId id="265" r:id="rId11"/>
    <p:sldId id="264" r:id="rId1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ura Martinez" initials="LM" lastIdx="1" clrIdx="0">
    <p:extLst>
      <p:ext uri="{19B8F6BF-5375-455C-9EA6-DF929625EA0E}">
        <p15:presenceInfo xmlns:p15="http://schemas.microsoft.com/office/powerpoint/2012/main" userId="e4b1260752a5dbb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2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74B0B5-EF36-4981-90FE-4BF0053731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5DF982-A5AB-442B-86CF-A1D1C43E43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3568C-891B-49D6-B9B8-44978DF933E0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26C16-32F3-4419-9384-A57B25BFED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8AD57-7F87-4A69-B643-C73F1CAC61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597F2-EFE9-4196-B39C-5BBD86BC9A7A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1117481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0FC6E-0692-4114-9A15-A2E0333BEC64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CD66F-B282-4CFE-AB6D-2B6AE5CA1485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5620968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B396-A70A-4168-8282-9F0B4334422A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70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F3AD9-6D97-4F5B-8FC2-1952E14B4274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4111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B66F5-DACF-4A90-B95E-F7DDEEAA94F7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630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91CEF-F036-4DA5-A981-F763378D6055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20796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63798-56C9-46A2-AF09-986E28AD9FE0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1623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E7E6D-D3DF-4583-B5D5-F369AD0F64B6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7754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B5712-A048-459D-B2B9-5D6237965F1A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6860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23D9-1BDF-4379-8905-0AC982C90A40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9121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5BCE3-CB64-41A3-8D44-ED3188B32416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7454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47647-030A-496E-9C99-0CAFA9ECB103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2540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8B1F7-7176-4183-985E-064819DA81D9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5014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9A7AC-06D7-4800-A8EF-78680C4CEDBF}" type="datetime4">
              <a:rPr lang="es-VE" smtClean="0"/>
              <a:t>18 de diciembre de 2025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22634-C054-48B9-89E3-4A22E09426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278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BF45EC-DC44-4C88-8452-38327E9A8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95" b="27595"/>
          <a:stretch/>
        </p:blipFill>
        <p:spPr>
          <a:xfrm>
            <a:off x="-890632" y="0"/>
            <a:ext cx="10257182" cy="6894314"/>
          </a:xfrm>
          <a:prstGeom prst="rect">
            <a:avLst/>
          </a:prstGeom>
        </p:spPr>
      </p:pic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E7A2AD8-7680-4DBD-BE90-F5714FD239C4}"/>
              </a:ext>
            </a:extLst>
          </p:cNvPr>
          <p:cNvSpPr/>
          <p:nvPr/>
        </p:nvSpPr>
        <p:spPr>
          <a:xfrm flipH="1">
            <a:off x="228600" y="145914"/>
            <a:ext cx="8743950" cy="6565763"/>
          </a:xfrm>
          <a:prstGeom prst="triangle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9581922-46C4-4B82-94B4-BFDB3E06A47D}"/>
              </a:ext>
            </a:extLst>
          </p:cNvPr>
          <p:cNvSpPr/>
          <p:nvPr/>
        </p:nvSpPr>
        <p:spPr>
          <a:xfrm rot="5400000">
            <a:off x="826851" y="-544749"/>
            <a:ext cx="4045088" cy="5426415"/>
          </a:xfrm>
          <a:prstGeom prst="triangle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3D59C-8F1A-466F-B87E-1B675CEF7734}"/>
              </a:ext>
            </a:extLst>
          </p:cNvPr>
          <p:cNvSpPr/>
          <p:nvPr/>
        </p:nvSpPr>
        <p:spPr>
          <a:xfrm rot="19390184">
            <a:off x="-2492226" y="1832266"/>
            <a:ext cx="12555089" cy="1857017"/>
          </a:xfrm>
          <a:prstGeom prst="rect">
            <a:avLst/>
          </a:prstGeom>
          <a:solidFill>
            <a:srgbClr val="082A3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BA0449-E40F-4EE7-8825-E2BDC596243B}"/>
              </a:ext>
            </a:extLst>
          </p:cNvPr>
          <p:cNvSpPr txBox="1"/>
          <p:nvPr/>
        </p:nvSpPr>
        <p:spPr>
          <a:xfrm>
            <a:off x="4723666" y="2825056"/>
            <a:ext cx="3969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s-ES" sz="3600" b="1" dirty="0">
              <a:solidFill>
                <a:srgbClr val="082A3E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r"/>
            <a:endParaRPr lang="es-VE" b="1" dirty="0">
              <a:solidFill>
                <a:srgbClr val="082A3E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3AFF2-6C46-4832-97BA-2B2EE6E7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238" y="6386996"/>
            <a:ext cx="2321673" cy="362777"/>
          </a:xfrm>
        </p:spPr>
        <p:txBody>
          <a:bodyPr/>
          <a:lstStyle/>
          <a:p>
            <a:fld id="{6DD5A59B-3916-4898-ABD5-7308ABFC9CD1}" type="datetime4">
              <a:rPr lang="es-VE" sz="1400" b="1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18 de diciembre de 2025</a:t>
            </a:fld>
            <a:endParaRPr lang="es-VE" sz="16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2400A-D75E-467B-931F-7ADB73AEF06C}"/>
              </a:ext>
            </a:extLst>
          </p:cNvPr>
          <p:cNvSpPr txBox="1"/>
          <p:nvPr/>
        </p:nvSpPr>
        <p:spPr>
          <a:xfrm>
            <a:off x="4850297" y="5897721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AKSIENNA</a:t>
            </a:r>
            <a:r>
              <a:rPr lang="es-ES" sz="3600" dirty="0">
                <a:solidFill>
                  <a:srgbClr val="082A3E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</a:t>
            </a:r>
            <a:r>
              <a:rPr lang="es-ES" sz="3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S.L</a:t>
            </a:r>
            <a:r>
              <a:rPr lang="es-ES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.</a:t>
            </a:r>
            <a:endParaRPr lang="es-VE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76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CFB4BC3E-95BA-432D-AD4C-6F45112EB7F1}"/>
              </a:ext>
            </a:extLst>
          </p:cNvPr>
          <p:cNvGrpSpPr/>
          <p:nvPr/>
        </p:nvGrpSpPr>
        <p:grpSpPr>
          <a:xfrm>
            <a:off x="-4561729" y="1084924"/>
            <a:ext cx="17456505" cy="6860675"/>
            <a:chOff x="-4983804" y="1282091"/>
            <a:chExt cx="17456505" cy="68606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BB0533-7044-48B8-BB8D-E107DB2A9369}"/>
                </a:ext>
              </a:extLst>
            </p:cNvPr>
            <p:cNvSpPr/>
            <p:nvPr/>
          </p:nvSpPr>
          <p:spPr>
            <a:xfrm>
              <a:off x="-464153" y="1342416"/>
              <a:ext cx="9988792" cy="5749047"/>
            </a:xfrm>
            <a:prstGeom prst="rect">
              <a:avLst/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76E4B37-0C73-49DE-B47E-72E0BF133B3B}"/>
                </a:ext>
              </a:extLst>
            </p:cNvPr>
            <p:cNvSpPr/>
            <p:nvPr/>
          </p:nvSpPr>
          <p:spPr>
            <a:xfrm>
              <a:off x="-4983804" y="1282091"/>
              <a:ext cx="7042826" cy="6858001"/>
            </a:xfrm>
            <a:prstGeom prst="parallelogram">
              <a:avLst>
                <a:gd name="adj" fmla="val 48538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0">
              <a:solidFill>
                <a:schemeClr val="bg1"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 dirty="0">
                <a:latin typeface="Open Runde" panose="00000500000000000000" pitchFamily="50" charset="0"/>
                <a:ea typeface="Open Runde" panose="00000500000000000000" pitchFamily="50" charset="0"/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3F999D53-5076-41F4-B4F6-A40C8AE5248A}"/>
                </a:ext>
              </a:extLst>
            </p:cNvPr>
            <p:cNvSpPr/>
            <p:nvPr/>
          </p:nvSpPr>
          <p:spPr>
            <a:xfrm>
              <a:off x="5429875" y="1284765"/>
              <a:ext cx="7042826" cy="6858001"/>
            </a:xfrm>
            <a:prstGeom prst="parallelogram">
              <a:avLst>
                <a:gd name="adj" fmla="val 48538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0">
              <a:solidFill>
                <a:schemeClr val="bg1">
                  <a:alpha val="9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 dirty="0">
                <a:latin typeface="Open Runde" panose="00000500000000000000" pitchFamily="50" charset="0"/>
                <a:ea typeface="Open Runde" panose="00000500000000000000" pitchFamily="50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E79CDAB-CA7F-4B53-A3B7-E427667A08A8}"/>
              </a:ext>
            </a:extLst>
          </p:cNvPr>
          <p:cNvGrpSpPr/>
          <p:nvPr/>
        </p:nvGrpSpPr>
        <p:grpSpPr>
          <a:xfrm>
            <a:off x="-108708" y="71959"/>
            <a:ext cx="4505550" cy="778937"/>
            <a:chOff x="-108708" y="-2"/>
            <a:chExt cx="4505550" cy="778937"/>
          </a:xfrm>
        </p:grpSpPr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90976D3B-6BE6-4EA4-950E-C9D454EB2C62}"/>
                </a:ext>
              </a:extLst>
            </p:cNvPr>
            <p:cNvSpPr/>
            <p:nvPr/>
          </p:nvSpPr>
          <p:spPr>
            <a:xfrm>
              <a:off x="-108708" y="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Índice</a:t>
              </a:r>
              <a:endParaRPr lang="es-VE" sz="24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endParaRPr>
            </a:p>
          </p:txBody>
        </p:sp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4CC59AC4-C2D7-4A9C-8CA8-AA836F72CCAB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38" name="Arrow: Chevron 37">
              <a:extLst>
                <a:ext uri="{FF2B5EF4-FFF2-40B4-BE49-F238E27FC236}">
                  <a16:creationId xmlns:a16="http://schemas.microsoft.com/office/drawing/2014/main" id="{48199D3E-266B-4EBC-B515-8CAF043759B7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39" name="Arrow: Chevron 38">
              <a:extLst>
                <a:ext uri="{FF2B5EF4-FFF2-40B4-BE49-F238E27FC236}">
                  <a16:creationId xmlns:a16="http://schemas.microsoft.com/office/drawing/2014/main" id="{E038AC64-773A-4566-87F7-83EBEAF3384C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40" name="Arrow: Chevron 39">
              <a:extLst>
                <a:ext uri="{FF2B5EF4-FFF2-40B4-BE49-F238E27FC236}">
                  <a16:creationId xmlns:a16="http://schemas.microsoft.com/office/drawing/2014/main" id="{CF893BC1-BB8F-409F-9428-78836BF370FA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72A8D3D-03D4-43E3-93D7-89E0FAC6F0B1}"/>
              </a:ext>
            </a:extLst>
          </p:cNvPr>
          <p:cNvGrpSpPr/>
          <p:nvPr/>
        </p:nvGrpSpPr>
        <p:grpSpPr>
          <a:xfrm>
            <a:off x="3700863" y="1695790"/>
            <a:ext cx="3071511" cy="411394"/>
            <a:chOff x="2345988" y="2226734"/>
            <a:chExt cx="3071511" cy="43522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B0B3FDF-A237-4B6B-9642-1399CCA34B6E}"/>
                </a:ext>
              </a:extLst>
            </p:cNvPr>
            <p:cNvSpPr/>
            <p:nvPr/>
          </p:nvSpPr>
          <p:spPr>
            <a:xfrm>
              <a:off x="2345988" y="2226734"/>
              <a:ext cx="406400" cy="4064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</a:rPr>
                <a:t>1</a:t>
              </a:r>
              <a:endParaRPr lang="es-VE" sz="16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9AC9405-6A44-474C-A6BE-223F097854F1}"/>
                </a:ext>
              </a:extLst>
            </p:cNvPr>
            <p:cNvSpPr txBox="1"/>
            <p:nvPr/>
          </p:nvSpPr>
          <p:spPr>
            <a:xfrm>
              <a:off x="2947349" y="2292622"/>
              <a:ext cx="2470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Nosotros</a:t>
              </a:r>
              <a:endParaRPr lang="es-V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5AC154F-F92F-4099-ACFA-9DCEB65C464B}"/>
              </a:ext>
            </a:extLst>
          </p:cNvPr>
          <p:cNvGrpSpPr/>
          <p:nvPr/>
        </p:nvGrpSpPr>
        <p:grpSpPr>
          <a:xfrm>
            <a:off x="3340918" y="2424187"/>
            <a:ext cx="4326870" cy="427509"/>
            <a:chOff x="2345988" y="2226734"/>
            <a:chExt cx="4326870" cy="452268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B1C2F4-B410-478C-A238-0255835920F1}"/>
                </a:ext>
              </a:extLst>
            </p:cNvPr>
            <p:cNvSpPr/>
            <p:nvPr/>
          </p:nvSpPr>
          <p:spPr>
            <a:xfrm>
              <a:off x="2345988" y="2226734"/>
              <a:ext cx="406400" cy="4064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endParaRPr lang="es-VE" sz="16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5B48935-132A-4F75-BA15-4D2903509615}"/>
                </a:ext>
              </a:extLst>
            </p:cNvPr>
            <p:cNvSpPr txBox="1"/>
            <p:nvPr/>
          </p:nvSpPr>
          <p:spPr>
            <a:xfrm>
              <a:off x="3041182" y="2309670"/>
              <a:ext cx="3631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Valores</a:t>
              </a:r>
              <a:endParaRPr lang="es-V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C245B63-A083-4113-8AC6-2451066A428A}"/>
              </a:ext>
            </a:extLst>
          </p:cNvPr>
          <p:cNvGrpSpPr/>
          <p:nvPr/>
        </p:nvGrpSpPr>
        <p:grpSpPr>
          <a:xfrm>
            <a:off x="2983495" y="3079024"/>
            <a:ext cx="2868455" cy="1232225"/>
            <a:chOff x="2345988" y="2226734"/>
            <a:chExt cx="2868455" cy="127966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D337AB6-D043-4BA4-B0F0-18A077762805}"/>
                </a:ext>
              </a:extLst>
            </p:cNvPr>
            <p:cNvSpPr/>
            <p:nvPr/>
          </p:nvSpPr>
          <p:spPr>
            <a:xfrm>
              <a:off x="2345988" y="2226734"/>
              <a:ext cx="406400" cy="4064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endParaRPr lang="es-VE" sz="16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73C774C-241D-4AC0-9D31-90863A99D7F8}"/>
                </a:ext>
              </a:extLst>
            </p:cNvPr>
            <p:cNvSpPr txBox="1"/>
            <p:nvPr/>
          </p:nvSpPr>
          <p:spPr>
            <a:xfrm>
              <a:off x="2744293" y="2860069"/>
              <a:ext cx="24701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Áreas de servicio y capacidad</a:t>
              </a:r>
              <a:endParaRPr lang="es-V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789693-E482-4339-8F74-B0785363454D}"/>
              </a:ext>
            </a:extLst>
          </p:cNvPr>
          <p:cNvGrpSpPr/>
          <p:nvPr/>
        </p:nvGrpSpPr>
        <p:grpSpPr>
          <a:xfrm>
            <a:off x="2622604" y="3725355"/>
            <a:ext cx="2702826" cy="1291590"/>
            <a:chOff x="2345988" y="2226734"/>
            <a:chExt cx="2702826" cy="142515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1049A23-24A1-405E-855E-D4D9747B4A14}"/>
                </a:ext>
              </a:extLst>
            </p:cNvPr>
            <p:cNvSpPr/>
            <p:nvPr/>
          </p:nvSpPr>
          <p:spPr>
            <a:xfrm>
              <a:off x="2345988" y="2226734"/>
              <a:ext cx="406400" cy="4064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</a:rPr>
                <a:t>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1D4787C-E71C-4E41-B73C-CBE3134A9BF8}"/>
                </a:ext>
              </a:extLst>
            </p:cNvPr>
            <p:cNvSpPr txBox="1"/>
            <p:nvPr/>
          </p:nvSpPr>
          <p:spPr>
            <a:xfrm>
              <a:off x="2578664" y="3005553"/>
              <a:ext cx="24701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Propuesta de valor y enfoque</a:t>
              </a:r>
              <a:endParaRPr lang="es-V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DCAA79D-68AB-4F48-88B8-8142C2E131A4}"/>
              </a:ext>
            </a:extLst>
          </p:cNvPr>
          <p:cNvGrpSpPr/>
          <p:nvPr/>
        </p:nvGrpSpPr>
        <p:grpSpPr>
          <a:xfrm>
            <a:off x="2269953" y="4493399"/>
            <a:ext cx="3076794" cy="1297099"/>
            <a:chOff x="2345988" y="2226734"/>
            <a:chExt cx="3076794" cy="1476361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ADC30CB-AA9E-4D63-8C67-229D993E6891}"/>
                </a:ext>
              </a:extLst>
            </p:cNvPr>
            <p:cNvSpPr/>
            <p:nvPr/>
          </p:nvSpPr>
          <p:spPr>
            <a:xfrm>
              <a:off x="2345988" y="2226734"/>
              <a:ext cx="406400" cy="4064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</a:rPr>
                <a:t>5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75E9422-6CEB-4F25-96BB-77DBE512809A}"/>
                </a:ext>
              </a:extLst>
            </p:cNvPr>
            <p:cNvSpPr txBox="1"/>
            <p:nvPr/>
          </p:nvSpPr>
          <p:spPr>
            <a:xfrm>
              <a:off x="2585256" y="2967440"/>
              <a:ext cx="2837526" cy="735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Programación de obra y Enfoque de Licitación. </a:t>
              </a:r>
              <a:endParaRPr lang="es-V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08EB71C-9A87-497D-B286-D6A653352BB8}"/>
              </a:ext>
            </a:extLst>
          </p:cNvPr>
          <p:cNvGrpSpPr/>
          <p:nvPr/>
        </p:nvGrpSpPr>
        <p:grpSpPr>
          <a:xfrm>
            <a:off x="1907860" y="5221797"/>
            <a:ext cx="2514054" cy="1246340"/>
            <a:chOff x="2345988" y="2226734"/>
            <a:chExt cx="2514054" cy="147320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B7CB00F-7740-413E-946D-A16298D9FE9D}"/>
                </a:ext>
              </a:extLst>
            </p:cNvPr>
            <p:cNvSpPr/>
            <p:nvPr/>
          </p:nvSpPr>
          <p:spPr>
            <a:xfrm>
              <a:off x="2345988" y="2226734"/>
              <a:ext cx="406400" cy="4064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latin typeface="Roboto" panose="02000000000000000000" pitchFamily="2" charset="0"/>
                  <a:ea typeface="Roboto" panose="02000000000000000000" pitchFamily="2" charset="0"/>
                </a:rPr>
                <a:t>6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E916718-71B0-44DA-BB28-656C6FDABA60}"/>
                </a:ext>
              </a:extLst>
            </p:cNvPr>
            <p:cNvSpPr txBox="1"/>
            <p:nvPr/>
          </p:nvSpPr>
          <p:spPr>
            <a:xfrm>
              <a:off x="2675482" y="2935959"/>
              <a:ext cx="2184560" cy="763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Contratos y Documentación</a:t>
              </a:r>
              <a:endParaRPr lang="es-V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8" name="Oval 61">
            <a:extLst>
              <a:ext uri="{FF2B5EF4-FFF2-40B4-BE49-F238E27FC236}">
                <a16:creationId xmlns:a16="http://schemas.microsoft.com/office/drawing/2014/main" id="{2E4BA707-7F1C-9ED7-BD60-E4588CCB6280}"/>
              </a:ext>
            </a:extLst>
          </p:cNvPr>
          <p:cNvSpPr/>
          <p:nvPr/>
        </p:nvSpPr>
        <p:spPr>
          <a:xfrm>
            <a:off x="1569494" y="5859965"/>
            <a:ext cx="406400" cy="34381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</a:rPr>
              <a:t>7</a:t>
            </a:r>
          </a:p>
        </p:txBody>
      </p:sp>
      <p:sp>
        <p:nvSpPr>
          <p:cNvPr id="9" name="TextBox 62">
            <a:extLst>
              <a:ext uri="{FF2B5EF4-FFF2-40B4-BE49-F238E27FC236}">
                <a16:creationId xmlns:a16="http://schemas.microsoft.com/office/drawing/2014/main" id="{B0B55397-735E-489E-3E4F-DF33C833BBD7}"/>
              </a:ext>
            </a:extLst>
          </p:cNvPr>
          <p:cNvSpPr txBox="1"/>
          <p:nvPr/>
        </p:nvSpPr>
        <p:spPr>
          <a:xfrm>
            <a:off x="3688598" y="3136897"/>
            <a:ext cx="1955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Nuestro Equipo</a:t>
            </a:r>
            <a:endParaRPr lang="es-VE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C9D3B7-AA3B-E3B0-BE4E-9CFF8BE02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0615" y="0"/>
            <a:ext cx="3684895" cy="111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3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BB0533-7044-48B8-BB8D-E107DB2A9369}"/>
              </a:ext>
            </a:extLst>
          </p:cNvPr>
          <p:cNvSpPr/>
          <p:nvPr/>
        </p:nvSpPr>
        <p:spPr>
          <a:xfrm>
            <a:off x="13252" y="1266943"/>
            <a:ext cx="9144000" cy="5563016"/>
          </a:xfrm>
          <a:prstGeom prst="rect">
            <a:avLst/>
          </a:prstGeom>
          <a:solidFill>
            <a:srgbClr val="082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Open Runde" panose="00000500000000000000" pitchFamily="50" charset="0"/>
              <a:ea typeface="Open Runde" panose="00000500000000000000" pitchFamily="50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E79CDAB-CA7F-4B53-A3B7-E427667A08A8}"/>
              </a:ext>
            </a:extLst>
          </p:cNvPr>
          <p:cNvGrpSpPr/>
          <p:nvPr/>
        </p:nvGrpSpPr>
        <p:grpSpPr>
          <a:xfrm>
            <a:off x="-108708" y="67726"/>
            <a:ext cx="4505550" cy="778937"/>
            <a:chOff x="-108708" y="-2"/>
            <a:chExt cx="4505550" cy="778937"/>
          </a:xfrm>
        </p:grpSpPr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90976D3B-6BE6-4EA4-950E-C9D454EB2C62}"/>
                </a:ext>
              </a:extLst>
            </p:cNvPr>
            <p:cNvSpPr/>
            <p:nvPr/>
          </p:nvSpPr>
          <p:spPr>
            <a:xfrm>
              <a:off x="-108708" y="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Nosotros</a:t>
              </a:r>
              <a:endParaRPr lang="es-VE" sz="24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endParaRPr>
            </a:p>
          </p:txBody>
        </p:sp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4CC59AC4-C2D7-4A9C-8CA8-AA836F72CCAB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38" name="Arrow: Chevron 37">
              <a:extLst>
                <a:ext uri="{FF2B5EF4-FFF2-40B4-BE49-F238E27FC236}">
                  <a16:creationId xmlns:a16="http://schemas.microsoft.com/office/drawing/2014/main" id="{48199D3E-266B-4EBC-B515-8CAF043759B7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39" name="Arrow: Chevron 38">
              <a:extLst>
                <a:ext uri="{FF2B5EF4-FFF2-40B4-BE49-F238E27FC236}">
                  <a16:creationId xmlns:a16="http://schemas.microsoft.com/office/drawing/2014/main" id="{E038AC64-773A-4566-87F7-83EBEAF3384C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40" name="Arrow: Chevron 39">
              <a:extLst>
                <a:ext uri="{FF2B5EF4-FFF2-40B4-BE49-F238E27FC236}">
                  <a16:creationId xmlns:a16="http://schemas.microsoft.com/office/drawing/2014/main" id="{CF893BC1-BB8F-409F-9428-78836BF370FA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9AC9405-6A44-474C-A6BE-223F097854F1}"/>
              </a:ext>
            </a:extLst>
          </p:cNvPr>
          <p:cNvSpPr txBox="1"/>
          <p:nvPr/>
        </p:nvSpPr>
        <p:spPr>
          <a:xfrm>
            <a:off x="3639872" y="2336070"/>
            <a:ext cx="50705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AKSIENNA S.L. ofrece soluciones integrales de electricidad industrial, montaje de cuadros eléctricos y mantenimiento predictivo y correctivo. Nos proyectamos como un socio técnico capaz de ejecutar proyectos de alta complejidad. Nuestros servicios están estratégicamente diseñados para maximizar la eficiencia y la seguridad de sus operaciones, garantizando el cumplimiento normativo y una ejecución precisa.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6865CD-829C-03D2-D35D-C6323F701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62" b="26162"/>
          <a:stretch/>
        </p:blipFill>
        <p:spPr>
          <a:xfrm>
            <a:off x="-2726363" y="1266945"/>
            <a:ext cx="6596554" cy="5591055"/>
          </a:xfrm>
          <a:prstGeom prst="parallelogram">
            <a:avLst>
              <a:gd name="adj" fmla="val 49151"/>
            </a:avLst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CBC9186-7B1D-8769-F01D-2948CC9EE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7797" y="0"/>
            <a:ext cx="3710916" cy="123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0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9210E8-30AB-4FC5-A704-017A3A0167F3}"/>
              </a:ext>
            </a:extLst>
          </p:cNvPr>
          <p:cNvGrpSpPr/>
          <p:nvPr/>
        </p:nvGrpSpPr>
        <p:grpSpPr>
          <a:xfrm>
            <a:off x="-3588958" y="1294249"/>
            <a:ext cx="16321917" cy="5563751"/>
            <a:chOff x="-4453969" y="1294249"/>
            <a:chExt cx="16321917" cy="6858003"/>
          </a:xfrm>
        </p:grpSpPr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5F047473-FC86-40FB-A8C7-6EFAB5BDFFCF}"/>
                </a:ext>
              </a:extLst>
            </p:cNvPr>
            <p:cNvSpPr/>
            <p:nvPr/>
          </p:nvSpPr>
          <p:spPr>
            <a:xfrm>
              <a:off x="-4453969" y="1294249"/>
              <a:ext cx="9535075" cy="6858001"/>
            </a:xfrm>
            <a:prstGeom prst="parallelogram">
              <a:avLst>
                <a:gd name="adj" fmla="val 48538"/>
              </a:avLst>
            </a:prstGeom>
            <a:solidFill>
              <a:srgbClr val="082A3E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 dirty="0">
                <a:latin typeface="Open Runde" panose="00000500000000000000" pitchFamily="50" charset="0"/>
                <a:ea typeface="Open Runde" panose="00000500000000000000" pitchFamily="50" charset="0"/>
              </a:endParaRPr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C2CBB833-DDC7-4D7D-9D63-8D8C3064E99F}"/>
                </a:ext>
              </a:extLst>
            </p:cNvPr>
            <p:cNvSpPr/>
            <p:nvPr/>
          </p:nvSpPr>
          <p:spPr>
            <a:xfrm>
              <a:off x="2333820" y="1294251"/>
              <a:ext cx="9534128" cy="6858001"/>
            </a:xfrm>
            <a:prstGeom prst="parallelogram">
              <a:avLst>
                <a:gd name="adj" fmla="val 48538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 dirty="0">
                <a:latin typeface="Open Runde" panose="00000500000000000000" pitchFamily="50" charset="0"/>
                <a:ea typeface="Open Runde" panose="00000500000000000000" pitchFamily="50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95E051-1A05-40A3-9C3C-9C8FAF27B915}"/>
              </a:ext>
            </a:extLst>
          </p:cNvPr>
          <p:cNvGrpSpPr/>
          <p:nvPr/>
        </p:nvGrpSpPr>
        <p:grpSpPr>
          <a:xfrm>
            <a:off x="-108708" y="67726"/>
            <a:ext cx="4505550" cy="778937"/>
            <a:chOff x="-108708" y="-2"/>
            <a:chExt cx="4505550" cy="778937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23373FBC-1C3B-4394-8286-1E069EB86808}"/>
                </a:ext>
              </a:extLst>
            </p:cNvPr>
            <p:cNvSpPr/>
            <p:nvPr/>
          </p:nvSpPr>
          <p:spPr>
            <a:xfrm>
              <a:off x="-108708" y="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</a:rPr>
                <a:t>Valores</a:t>
              </a:r>
              <a:endParaRPr lang="es-VE" sz="24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endParaRP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06BD9B41-6D73-4C90-83A8-365D8268D68D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ECADA063-F460-46A5-A21A-67729AA7B732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0FC3AC30-8667-4B4B-BC0A-2D2A83BF08F9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8" name="Arrow: Chevron 67">
              <a:extLst>
                <a:ext uri="{FF2B5EF4-FFF2-40B4-BE49-F238E27FC236}">
                  <a16:creationId xmlns:a16="http://schemas.microsoft.com/office/drawing/2014/main" id="{DB17CD1B-EFE9-43B2-9A6A-C1F4830B3506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72A7B85-44FB-4590-84F1-5A57FE17514E}"/>
              </a:ext>
            </a:extLst>
          </p:cNvPr>
          <p:cNvGrpSpPr/>
          <p:nvPr/>
        </p:nvGrpSpPr>
        <p:grpSpPr>
          <a:xfrm>
            <a:off x="615484" y="1504497"/>
            <a:ext cx="7879695" cy="5306370"/>
            <a:chOff x="615484" y="1174297"/>
            <a:chExt cx="7879695" cy="53063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A453A5B-8BD1-48DE-935A-48EBF71926E2}"/>
                </a:ext>
              </a:extLst>
            </p:cNvPr>
            <p:cNvGrpSpPr/>
            <p:nvPr/>
          </p:nvGrpSpPr>
          <p:grpSpPr>
            <a:xfrm>
              <a:off x="615484" y="2115712"/>
              <a:ext cx="2879930" cy="3495780"/>
              <a:chOff x="615484" y="2115712"/>
              <a:chExt cx="2879930" cy="3495780"/>
            </a:xfrm>
          </p:grpSpPr>
          <p:sp>
            <p:nvSpPr>
              <p:cNvPr id="18" name="Hexagon 17">
                <a:extLst>
                  <a:ext uri="{FF2B5EF4-FFF2-40B4-BE49-F238E27FC236}">
                    <a16:creationId xmlns:a16="http://schemas.microsoft.com/office/drawing/2014/main" id="{868E3ED4-54B1-4F60-A806-63B58C34A04C}"/>
                  </a:ext>
                </a:extLst>
              </p:cNvPr>
              <p:cNvSpPr/>
              <p:nvPr/>
            </p:nvSpPr>
            <p:spPr>
              <a:xfrm>
                <a:off x="615484" y="3892192"/>
                <a:ext cx="2879930" cy="1719300"/>
              </a:xfrm>
              <a:prstGeom prst="hexagon">
                <a:avLst/>
              </a:prstGeom>
              <a:solidFill>
                <a:srgbClr val="082A3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Vanguardia</a:t>
                </a:r>
              </a:p>
              <a:p>
                <a:pPr algn="ctr"/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</a:rPr>
                  <a:t>Nos enfocamos en la información que es importante para nuestros usuarios.</a:t>
                </a:r>
                <a:endParaRPr lang="es-VE" sz="14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" name="Hexagon 1">
                <a:extLst>
                  <a:ext uri="{FF2B5EF4-FFF2-40B4-BE49-F238E27FC236}">
                    <a16:creationId xmlns:a16="http://schemas.microsoft.com/office/drawing/2014/main" id="{170D6BFA-D654-49D1-AEA6-7BFC2AF8407D}"/>
                  </a:ext>
                </a:extLst>
              </p:cNvPr>
              <p:cNvSpPr/>
              <p:nvPr/>
            </p:nvSpPr>
            <p:spPr>
              <a:xfrm>
                <a:off x="615484" y="2115712"/>
                <a:ext cx="2879930" cy="1719300"/>
              </a:xfrm>
              <a:prstGeom prst="hexagon">
                <a:avLst/>
              </a:prstGeom>
              <a:solidFill>
                <a:srgbClr val="082A3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Transparencia</a:t>
                </a:r>
              </a:p>
              <a:p>
                <a:pPr algn="ctr"/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Metodología, materiales y plazos con trazabilidad completa</a:t>
                </a:r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</a:rPr>
                  <a:t>.</a:t>
                </a:r>
                <a:endParaRPr lang="es-VE" sz="14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8F30439-A93F-4FE2-8BA0-866467384C29}"/>
                </a:ext>
              </a:extLst>
            </p:cNvPr>
            <p:cNvGrpSpPr/>
            <p:nvPr/>
          </p:nvGrpSpPr>
          <p:grpSpPr>
            <a:xfrm>
              <a:off x="5615249" y="2115712"/>
              <a:ext cx="2879930" cy="3495780"/>
              <a:chOff x="5615249" y="2115712"/>
              <a:chExt cx="2879930" cy="3495780"/>
            </a:xfrm>
          </p:grpSpPr>
          <p:sp>
            <p:nvSpPr>
              <p:cNvPr id="19" name="Hexagon 18">
                <a:extLst>
                  <a:ext uri="{FF2B5EF4-FFF2-40B4-BE49-F238E27FC236}">
                    <a16:creationId xmlns:a16="http://schemas.microsoft.com/office/drawing/2014/main" id="{61AE9E6E-6E94-4808-AE7A-C7B8D643B2C1}"/>
                  </a:ext>
                </a:extLst>
              </p:cNvPr>
              <p:cNvSpPr/>
              <p:nvPr/>
            </p:nvSpPr>
            <p:spPr>
              <a:xfrm>
                <a:off x="5615249" y="3892192"/>
                <a:ext cx="2879930" cy="1719300"/>
              </a:xfrm>
              <a:prstGeom prst="hexagon">
                <a:avLst/>
              </a:prstGeom>
              <a:solidFill>
                <a:srgbClr val="082A3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b="1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/>
                <a: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Precisión</a:t>
                </a:r>
                <a:b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</a:br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Instalaciones confiables que cumplen estándares técnicos y normativos.</a:t>
                </a:r>
              </a:p>
              <a:p>
                <a:pPr algn="ctr"/>
                <a:endParaRPr lang="es-VE" b="1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0" name="Hexagon 19">
                <a:extLst>
                  <a:ext uri="{FF2B5EF4-FFF2-40B4-BE49-F238E27FC236}">
                    <a16:creationId xmlns:a16="http://schemas.microsoft.com/office/drawing/2014/main" id="{7770160D-8809-49D4-975C-48D2F3F38478}"/>
                  </a:ext>
                </a:extLst>
              </p:cNvPr>
              <p:cNvSpPr/>
              <p:nvPr/>
            </p:nvSpPr>
            <p:spPr>
              <a:xfrm>
                <a:off x="5615249" y="2115712"/>
                <a:ext cx="2879930" cy="1719300"/>
              </a:xfrm>
              <a:prstGeom prst="hexagon">
                <a:avLst/>
              </a:prstGeom>
              <a:solidFill>
                <a:srgbClr val="082A3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b="1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/>
                <a: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Responsabilidad</a:t>
                </a:r>
                <a:b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</a:br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Seguridad integral y correcta ejecución en cada proyecto eléctrico</a:t>
                </a:r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</a:rPr>
                  <a:t>.</a:t>
                </a:r>
                <a:b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</a:br>
                <a:endParaRPr lang="es-VE" b="1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951EF0D-613F-4D03-B00F-E739EC6AE76A}"/>
                </a:ext>
              </a:extLst>
            </p:cNvPr>
            <p:cNvGrpSpPr/>
            <p:nvPr/>
          </p:nvGrpSpPr>
          <p:grpSpPr>
            <a:xfrm>
              <a:off x="3111287" y="1174297"/>
              <a:ext cx="2881470" cy="5306370"/>
              <a:chOff x="3113826" y="1174297"/>
              <a:chExt cx="2881470" cy="5306370"/>
            </a:xfrm>
          </p:grpSpPr>
          <p:sp>
            <p:nvSpPr>
              <p:cNvPr id="17" name="Hexagon 16">
                <a:extLst>
                  <a:ext uri="{FF2B5EF4-FFF2-40B4-BE49-F238E27FC236}">
                    <a16:creationId xmlns:a16="http://schemas.microsoft.com/office/drawing/2014/main" id="{C172099A-EEE7-42CC-A9DA-919AD313740A}"/>
                  </a:ext>
                </a:extLst>
              </p:cNvPr>
              <p:cNvSpPr/>
              <p:nvPr/>
            </p:nvSpPr>
            <p:spPr>
              <a:xfrm>
                <a:off x="3115366" y="4761367"/>
                <a:ext cx="2879930" cy="1719300"/>
              </a:xfrm>
              <a:prstGeom prst="hexagon">
                <a:avLst/>
              </a:prstGeom>
              <a:solidFill>
                <a:srgbClr val="082A3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Relevancia</a:t>
                </a:r>
              </a:p>
              <a:p>
                <a:pPr algn="ctr"/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Soluciones orientadas a la continuidad operativa del cliente..</a:t>
                </a:r>
                <a:endParaRPr lang="es-VE" sz="1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1" name="Hexagon 20">
                <a:extLst>
                  <a:ext uri="{FF2B5EF4-FFF2-40B4-BE49-F238E27FC236}">
                    <a16:creationId xmlns:a16="http://schemas.microsoft.com/office/drawing/2014/main" id="{FF3C2301-B726-4C1D-A9E2-CE2B29283356}"/>
                  </a:ext>
                </a:extLst>
              </p:cNvPr>
              <p:cNvSpPr/>
              <p:nvPr/>
            </p:nvSpPr>
            <p:spPr>
              <a:xfrm>
                <a:off x="3113826" y="1174297"/>
                <a:ext cx="2879930" cy="1719300"/>
              </a:xfrm>
              <a:prstGeom prst="hexagon">
                <a:avLst/>
              </a:prstGeom>
              <a:solidFill>
                <a:srgbClr val="082A3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b="1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/>
                <a: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Independencia</a:t>
                </a:r>
              </a:p>
              <a:p>
                <a:pPr algn="ctr"/>
                <a:r>
                  <a:rPr lang="es-ES" sz="14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Criterio técnico objetivo, sin dependencia de proveedores..</a:t>
                </a:r>
                <a:br>
                  <a:rPr lang="es-ES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endParaRPr lang="es-VE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</p:grpSp>
      <p:sp>
        <p:nvSpPr>
          <p:cNvPr id="22" name="Hexagon 21">
            <a:extLst>
              <a:ext uri="{FF2B5EF4-FFF2-40B4-BE49-F238E27FC236}">
                <a16:creationId xmlns:a16="http://schemas.microsoft.com/office/drawing/2014/main" id="{99CC1DE7-3029-48FE-9DF5-E4FB875E33AA}"/>
              </a:ext>
            </a:extLst>
          </p:cNvPr>
          <p:cNvSpPr/>
          <p:nvPr/>
        </p:nvSpPr>
        <p:spPr>
          <a:xfrm>
            <a:off x="3109016" y="3334152"/>
            <a:ext cx="2879930" cy="1719300"/>
          </a:xfrm>
          <a:prstGeom prst="hexagon">
            <a:avLst/>
          </a:prstGeom>
          <a:solidFill>
            <a:schemeClr val="bg1">
              <a:alpha val="82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D8C0CE-9BD7-EE3A-7F4F-49DFD4BC4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478" y="0"/>
            <a:ext cx="4166521" cy="123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8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BB0533-7044-48B8-BB8D-E107DB2A9369}"/>
              </a:ext>
            </a:extLst>
          </p:cNvPr>
          <p:cNvSpPr/>
          <p:nvPr/>
        </p:nvSpPr>
        <p:spPr>
          <a:xfrm>
            <a:off x="285548" y="1292343"/>
            <a:ext cx="8858452" cy="5565657"/>
          </a:xfrm>
          <a:prstGeom prst="rect">
            <a:avLst/>
          </a:prstGeom>
          <a:solidFill>
            <a:srgbClr val="082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Open Runde" panose="00000500000000000000" pitchFamily="50" charset="0"/>
              <a:ea typeface="Open Runde" panose="00000500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5B686-860A-484E-8C90-94EE20FFD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" r="5680"/>
          <a:stretch/>
        </p:blipFill>
        <p:spPr>
          <a:xfrm>
            <a:off x="-2726363" y="1292343"/>
            <a:ext cx="6596554" cy="5581532"/>
          </a:xfrm>
          <a:prstGeom prst="parallelogram">
            <a:avLst>
              <a:gd name="adj" fmla="val 49151"/>
            </a:avLst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3A97EDE-6209-4B86-A43A-AF9D91995E71}"/>
              </a:ext>
            </a:extLst>
          </p:cNvPr>
          <p:cNvSpPr txBox="1"/>
          <p:nvPr/>
        </p:nvSpPr>
        <p:spPr>
          <a:xfrm>
            <a:off x="3756273" y="1813013"/>
            <a:ext cx="50755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VE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algn="just"/>
            <a:r>
              <a:rPr lang="es-ES" dirty="0">
                <a:solidFill>
                  <a:schemeClr val="bg1"/>
                </a:solidFill>
                <a:latin typeface="Roboco"/>
              </a:rPr>
              <a:t> AKSIENNA S.L. se consolida como una empresa referente en el sector, caracterizada por su rigor técnico, eficiencia y compromiso con la excelencia. Bajo la dirección de José Antonio Fleitas Martínez, responsable de licitaciones y desarrollo de obras, lidera un equipo altamente cualificado que ejecuta proyectos industriales de gran envergadura con precisión, planificación estratégica y cumplimiento estricto de normativas, y la  Ing. Laura Martinez con  su enfoque profesional en la parte técnica - administrativa, estructurando  resultados óptimos, seguros y sostenibles, consolidando la confianza de sus clientes y socios en cada ejecución.</a:t>
            </a:r>
            <a:endParaRPr lang="es-ES" dirty="0">
              <a:solidFill>
                <a:schemeClr val="bg1"/>
              </a:solidFill>
              <a:latin typeface="Roboco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95E051-1A05-40A3-9C3C-9C8FAF27B915}"/>
              </a:ext>
            </a:extLst>
          </p:cNvPr>
          <p:cNvGrpSpPr/>
          <p:nvPr/>
        </p:nvGrpSpPr>
        <p:grpSpPr>
          <a:xfrm>
            <a:off x="-121960" y="63939"/>
            <a:ext cx="4505550" cy="794811"/>
            <a:chOff x="-108708" y="-15876"/>
            <a:chExt cx="4505550" cy="794811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23373FBC-1C3B-4394-8286-1E069EB86808}"/>
                </a:ext>
              </a:extLst>
            </p:cNvPr>
            <p:cNvSpPr/>
            <p:nvPr/>
          </p:nvSpPr>
          <p:spPr>
            <a:xfrm>
              <a:off x="-108708" y="-15876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VE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06BD9B41-6D73-4C90-83A8-365D8268D68D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ECADA063-F460-46A5-A21A-67729AA7B732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0FC3AC30-8667-4B4B-BC0A-2D2A83BF08F9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8" name="Arrow: Chevron 67">
              <a:extLst>
                <a:ext uri="{FF2B5EF4-FFF2-40B4-BE49-F238E27FC236}">
                  <a16:creationId xmlns:a16="http://schemas.microsoft.com/office/drawing/2014/main" id="{DB17CD1B-EFE9-43B2-9A6A-C1F4830B3506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FB78C271-AE5F-0418-BAF2-AC33F18CF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0730" y="0"/>
            <a:ext cx="4153269" cy="1276468"/>
          </a:xfrm>
          <a:prstGeom prst="rect">
            <a:avLst/>
          </a:prstGeom>
        </p:spPr>
      </p:pic>
      <p:sp>
        <p:nvSpPr>
          <p:cNvPr id="15" name="TextBox 50">
            <a:extLst>
              <a:ext uri="{FF2B5EF4-FFF2-40B4-BE49-F238E27FC236}">
                <a16:creationId xmlns:a16="http://schemas.microsoft.com/office/drawing/2014/main" id="{E73C774C-241D-4AC0-9D31-90863A99D7F8}"/>
              </a:ext>
            </a:extLst>
          </p:cNvPr>
          <p:cNvSpPr txBox="1"/>
          <p:nvPr/>
        </p:nvSpPr>
        <p:spPr>
          <a:xfrm>
            <a:off x="859803" y="214370"/>
            <a:ext cx="247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Nuestro Equipo </a:t>
            </a:r>
            <a:endParaRPr lang="es-VE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982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BB0533-7044-48B8-BB8D-E107DB2A9369}"/>
              </a:ext>
            </a:extLst>
          </p:cNvPr>
          <p:cNvSpPr/>
          <p:nvPr/>
        </p:nvSpPr>
        <p:spPr>
          <a:xfrm>
            <a:off x="240055" y="1662636"/>
            <a:ext cx="3936526" cy="4675352"/>
          </a:xfrm>
          <a:prstGeom prst="rect">
            <a:avLst/>
          </a:prstGeom>
          <a:solidFill>
            <a:srgbClr val="082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Open Runde" panose="00000500000000000000" pitchFamily="50" charset="0"/>
              <a:ea typeface="Open Runde" panose="00000500000000000000" pitchFamily="50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95E051-1A05-40A3-9C3C-9C8FAF27B915}"/>
              </a:ext>
            </a:extLst>
          </p:cNvPr>
          <p:cNvGrpSpPr/>
          <p:nvPr/>
        </p:nvGrpSpPr>
        <p:grpSpPr>
          <a:xfrm>
            <a:off x="-108708" y="67726"/>
            <a:ext cx="4505550" cy="778937"/>
            <a:chOff x="-108708" y="-2"/>
            <a:chExt cx="4505550" cy="778937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23373FBC-1C3B-4394-8286-1E069EB86808}"/>
                </a:ext>
              </a:extLst>
            </p:cNvPr>
            <p:cNvSpPr/>
            <p:nvPr/>
          </p:nvSpPr>
          <p:spPr>
            <a:xfrm>
              <a:off x="-108708" y="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Áreas de Servicio y Capacidad</a:t>
              </a:r>
              <a:endParaRPr lang="es-VE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06BD9B41-6D73-4C90-83A8-365D8268D68D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ECADA063-F460-46A5-A21A-67729AA7B732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0FC3AC30-8667-4B4B-BC0A-2D2A83BF08F9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8" name="Arrow: Chevron 67">
              <a:extLst>
                <a:ext uri="{FF2B5EF4-FFF2-40B4-BE49-F238E27FC236}">
                  <a16:creationId xmlns:a16="http://schemas.microsoft.com/office/drawing/2014/main" id="{DB17CD1B-EFE9-43B2-9A6A-C1F4830B3506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4CEBE7-19B5-4907-B74D-549CAEF1C76A}"/>
              </a:ext>
            </a:extLst>
          </p:cNvPr>
          <p:cNvGrpSpPr/>
          <p:nvPr/>
        </p:nvGrpSpPr>
        <p:grpSpPr>
          <a:xfrm>
            <a:off x="4686301" y="1885755"/>
            <a:ext cx="4165333" cy="1070495"/>
            <a:chOff x="4248675" y="1205381"/>
            <a:chExt cx="4165333" cy="1070495"/>
          </a:xfrm>
        </p:grpSpPr>
        <p:grpSp>
          <p:nvGrpSpPr>
            <p:cNvPr id="24" name="Group 32">
              <a:extLst>
                <a:ext uri="{FF2B5EF4-FFF2-40B4-BE49-F238E27FC236}">
                  <a16:creationId xmlns:a16="http://schemas.microsoft.com/office/drawing/2014/main" id="{7304DF24-09EE-4B6F-B762-065FD0E19753}"/>
                </a:ext>
              </a:extLst>
            </p:cNvPr>
            <p:cNvGrpSpPr/>
            <p:nvPr/>
          </p:nvGrpSpPr>
          <p:grpSpPr>
            <a:xfrm>
              <a:off x="4248675" y="1205381"/>
              <a:ext cx="4165333" cy="989514"/>
              <a:chOff x="0" y="-210558"/>
              <a:chExt cx="10085222" cy="2395838"/>
            </a:xfrm>
          </p:grpSpPr>
          <p:grpSp>
            <p:nvGrpSpPr>
              <p:cNvPr id="25" name="Group 33">
                <a:extLst>
                  <a:ext uri="{FF2B5EF4-FFF2-40B4-BE49-F238E27FC236}">
                    <a16:creationId xmlns:a16="http://schemas.microsoft.com/office/drawing/2014/main" id="{5816DC16-EDE7-4DB0-96C1-426FD04D2211}"/>
                  </a:ext>
                </a:extLst>
              </p:cNvPr>
              <p:cNvGrpSpPr/>
              <p:nvPr/>
            </p:nvGrpSpPr>
            <p:grpSpPr>
              <a:xfrm>
                <a:off x="0" y="-210558"/>
                <a:ext cx="3575587" cy="2395838"/>
                <a:chOff x="0" y="-38100"/>
                <a:chExt cx="646995" cy="433522"/>
              </a:xfrm>
            </p:grpSpPr>
            <p:sp>
              <p:nvSpPr>
                <p:cNvPr id="32" name="Freeform 34">
                  <a:extLst>
                    <a:ext uri="{FF2B5EF4-FFF2-40B4-BE49-F238E27FC236}">
                      <a16:creationId xmlns:a16="http://schemas.microsoft.com/office/drawing/2014/main" id="{D08CF472-ED22-4A88-8352-A5535F801C1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46995" cy="395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995" h="395422">
                      <a:moveTo>
                        <a:pt x="0" y="0"/>
                      </a:moveTo>
                      <a:lnTo>
                        <a:pt x="646995" y="0"/>
                      </a:lnTo>
                      <a:lnTo>
                        <a:pt x="646995" y="395422"/>
                      </a:lnTo>
                      <a:lnTo>
                        <a:pt x="0" y="395422"/>
                      </a:lnTo>
                      <a:close/>
                    </a:path>
                  </a:pathLst>
                </a:custGeom>
                <a:solidFill>
                  <a:srgbClr val="08293E"/>
                </a:solidFill>
              </p:spPr>
            </p:sp>
            <p:sp>
              <p:nvSpPr>
                <p:cNvPr id="33" name="TextBox 35">
                  <a:extLst>
                    <a:ext uri="{FF2B5EF4-FFF2-40B4-BE49-F238E27FC236}">
                      <a16:creationId xmlns:a16="http://schemas.microsoft.com/office/drawing/2014/main" id="{30FF8555-3AE7-4980-BFE5-21B4A250866D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46995" cy="433522"/>
                </a:xfrm>
                <a:prstGeom prst="rect">
                  <a:avLst/>
                </a:prstGeom>
              </p:spPr>
              <p:txBody>
                <a:bodyPr lIns="55456" tIns="55456" rIns="55456" bIns="55456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 sz="1600"/>
                </a:p>
              </p:txBody>
            </p:sp>
          </p:grpSp>
          <p:grpSp>
            <p:nvGrpSpPr>
              <p:cNvPr id="26" name="Group 36">
                <a:extLst>
                  <a:ext uri="{FF2B5EF4-FFF2-40B4-BE49-F238E27FC236}">
                    <a16:creationId xmlns:a16="http://schemas.microsoft.com/office/drawing/2014/main" id="{C935BECE-2472-4B23-ACFF-2708FB45C1A1}"/>
                  </a:ext>
                </a:extLst>
              </p:cNvPr>
              <p:cNvGrpSpPr/>
              <p:nvPr/>
            </p:nvGrpSpPr>
            <p:grpSpPr>
              <a:xfrm>
                <a:off x="3575587" y="0"/>
                <a:ext cx="3144661" cy="2185280"/>
                <a:chOff x="0" y="0"/>
                <a:chExt cx="569020" cy="395422"/>
              </a:xfrm>
            </p:grpSpPr>
            <p:sp>
              <p:nvSpPr>
                <p:cNvPr id="30" name="Freeform 37">
                  <a:extLst>
                    <a:ext uri="{FF2B5EF4-FFF2-40B4-BE49-F238E27FC236}">
                      <a16:creationId xmlns:a16="http://schemas.microsoft.com/office/drawing/2014/main" id="{4E179688-6BCE-41CB-A4F1-23250E211EE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69020" cy="395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020" h="395422">
                      <a:moveTo>
                        <a:pt x="0" y="0"/>
                      </a:moveTo>
                      <a:lnTo>
                        <a:pt x="569020" y="0"/>
                      </a:lnTo>
                      <a:lnTo>
                        <a:pt x="569020" y="395422"/>
                      </a:lnTo>
                      <a:lnTo>
                        <a:pt x="0" y="395422"/>
                      </a:lnTo>
                      <a:close/>
                    </a:path>
                  </a:pathLst>
                </a:custGeom>
                <a:solidFill>
                  <a:srgbClr val="08293E">
                    <a:alpha val="83922"/>
                  </a:srgbClr>
                </a:solidFill>
              </p:spPr>
            </p:sp>
            <p:sp>
              <p:nvSpPr>
                <p:cNvPr id="31" name="TextBox 38">
                  <a:extLst>
                    <a:ext uri="{FF2B5EF4-FFF2-40B4-BE49-F238E27FC236}">
                      <a16:creationId xmlns:a16="http://schemas.microsoft.com/office/drawing/2014/main" id="{63638882-E196-4E0A-9F13-5F184AC22E32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569020" cy="433522"/>
                </a:xfrm>
                <a:prstGeom prst="rect">
                  <a:avLst/>
                </a:prstGeom>
              </p:spPr>
              <p:txBody>
                <a:bodyPr lIns="55456" tIns="55456" rIns="55456" bIns="55456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 sz="1600"/>
                </a:p>
              </p:txBody>
            </p:sp>
          </p:grpSp>
          <p:grpSp>
            <p:nvGrpSpPr>
              <p:cNvPr id="27" name="Group 39">
                <a:extLst>
                  <a:ext uri="{FF2B5EF4-FFF2-40B4-BE49-F238E27FC236}">
                    <a16:creationId xmlns:a16="http://schemas.microsoft.com/office/drawing/2014/main" id="{F5EEE2FB-542C-41D3-B71F-EBF60016A7D0}"/>
                  </a:ext>
                </a:extLst>
              </p:cNvPr>
              <p:cNvGrpSpPr/>
              <p:nvPr/>
            </p:nvGrpSpPr>
            <p:grpSpPr>
              <a:xfrm>
                <a:off x="6720248" y="0"/>
                <a:ext cx="3364974" cy="2185280"/>
                <a:chOff x="0" y="0"/>
                <a:chExt cx="608885" cy="395422"/>
              </a:xfrm>
            </p:grpSpPr>
            <p:sp>
              <p:nvSpPr>
                <p:cNvPr id="28" name="Freeform 40">
                  <a:extLst>
                    <a:ext uri="{FF2B5EF4-FFF2-40B4-BE49-F238E27FC236}">
                      <a16:creationId xmlns:a16="http://schemas.microsoft.com/office/drawing/2014/main" id="{012D9A2A-6E06-405D-9D4C-21F5DC892D4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08885" cy="395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885" h="395422">
                      <a:moveTo>
                        <a:pt x="0" y="0"/>
                      </a:moveTo>
                      <a:lnTo>
                        <a:pt x="608885" y="0"/>
                      </a:lnTo>
                      <a:lnTo>
                        <a:pt x="608885" y="395422"/>
                      </a:lnTo>
                      <a:lnTo>
                        <a:pt x="0" y="395422"/>
                      </a:lnTo>
                      <a:close/>
                    </a:path>
                  </a:pathLst>
                </a:custGeom>
                <a:solidFill>
                  <a:srgbClr val="08293E">
                    <a:alpha val="67843"/>
                  </a:srgbClr>
                </a:solidFill>
              </p:spPr>
            </p:sp>
            <p:sp>
              <p:nvSpPr>
                <p:cNvPr id="29" name="TextBox 41">
                  <a:extLst>
                    <a:ext uri="{FF2B5EF4-FFF2-40B4-BE49-F238E27FC236}">
                      <a16:creationId xmlns:a16="http://schemas.microsoft.com/office/drawing/2014/main" id="{B2881313-E171-4C5B-A2F9-8DD2362F6DB7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08885" cy="433522"/>
                </a:xfrm>
                <a:prstGeom prst="rect">
                  <a:avLst/>
                </a:prstGeom>
              </p:spPr>
              <p:txBody>
                <a:bodyPr lIns="55456" tIns="55456" rIns="55456" bIns="55456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 sz="1600"/>
                </a:p>
              </p:txBody>
            </p:sp>
          </p:grpSp>
        </p:grp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FB0E402D-6E47-4C49-B642-8AA92953539E}"/>
                </a:ext>
              </a:extLst>
            </p:cNvPr>
            <p:cNvSpPr txBox="1"/>
            <p:nvPr/>
          </p:nvSpPr>
          <p:spPr>
            <a:xfrm>
              <a:off x="4368095" y="1444879"/>
              <a:ext cx="1262301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Especialistas en soluciones eléctricas integrales</a:t>
              </a:r>
              <a:endParaRPr lang="en-US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"/>
              </a:endParaRPr>
            </a:p>
          </p:txBody>
        </p:sp>
        <p:sp>
          <p:nvSpPr>
            <p:cNvPr id="35" name="TextBox 42">
              <a:extLst>
                <a:ext uri="{FF2B5EF4-FFF2-40B4-BE49-F238E27FC236}">
                  <a16:creationId xmlns:a16="http://schemas.microsoft.com/office/drawing/2014/main" id="{F705095D-76C7-40AF-98AD-BCB5654716B4}"/>
                </a:ext>
              </a:extLst>
            </p:cNvPr>
            <p:cNvSpPr txBox="1"/>
            <p:nvPr/>
          </p:nvSpPr>
          <p:spPr>
            <a:xfrm>
              <a:off x="5811076" y="1444879"/>
              <a:ext cx="1151574" cy="646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Roboco"/>
                </a:rPr>
                <a:t>garantizando seguridad, eficiencia y</a:t>
              </a:r>
              <a:endParaRPr lang="en-US" sz="1400" dirty="0">
                <a:solidFill>
                  <a:schemeClr val="bg1"/>
                </a:solidFill>
                <a:latin typeface="Roboco"/>
                <a:ea typeface="Roboto" panose="02000000000000000000" pitchFamily="2" charset="0"/>
                <a:cs typeface="Montserrat"/>
                <a:sym typeface="Montserrat"/>
              </a:endParaRPr>
            </a:p>
          </p:txBody>
        </p:sp>
        <p:sp>
          <p:nvSpPr>
            <p:cNvPr id="37" name="TextBox 43">
              <a:extLst>
                <a:ext uri="{FF2B5EF4-FFF2-40B4-BE49-F238E27FC236}">
                  <a16:creationId xmlns:a16="http://schemas.microsoft.com/office/drawing/2014/main" id="{9CB63502-5488-4648-9B57-0083BC45FC67}"/>
                </a:ext>
              </a:extLst>
            </p:cNvPr>
            <p:cNvSpPr txBox="1"/>
            <p:nvPr/>
          </p:nvSpPr>
          <p:spPr>
            <a:xfrm>
              <a:off x="7143331" y="1537212"/>
              <a:ext cx="1151574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Roboco"/>
                </a:rPr>
                <a:t>cumplimiento riguroso de la normativa.</a:t>
              </a:r>
              <a:endParaRPr lang="en-US" sz="1200" dirty="0">
                <a:solidFill>
                  <a:schemeClr val="bg1"/>
                </a:solidFill>
                <a:latin typeface="Roboco"/>
                <a:ea typeface="Roboto" panose="02000000000000000000" pitchFamily="2" charset="0"/>
                <a:cs typeface="Montserrat"/>
                <a:sym typeface="Montserrat"/>
              </a:endParaRPr>
            </a:p>
            <a:p>
              <a:pPr algn="ctr"/>
              <a:endParaRPr lang="en-US" sz="12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Montserrat"/>
                <a:sym typeface="Montserra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DFC70F-9C37-41C1-8E6E-6D821B9491BF}"/>
              </a:ext>
            </a:extLst>
          </p:cNvPr>
          <p:cNvGrpSpPr/>
          <p:nvPr/>
        </p:nvGrpSpPr>
        <p:grpSpPr>
          <a:xfrm>
            <a:off x="4686301" y="4940107"/>
            <a:ext cx="4165333" cy="902550"/>
            <a:chOff x="4572000" y="4940105"/>
            <a:chExt cx="4165333" cy="902550"/>
          </a:xfrm>
        </p:grpSpPr>
        <p:grpSp>
          <p:nvGrpSpPr>
            <p:cNvPr id="39" name="Group 32">
              <a:extLst>
                <a:ext uri="{FF2B5EF4-FFF2-40B4-BE49-F238E27FC236}">
                  <a16:creationId xmlns:a16="http://schemas.microsoft.com/office/drawing/2014/main" id="{E819659F-07AE-4F80-BE2B-25E09691E301}"/>
                </a:ext>
              </a:extLst>
            </p:cNvPr>
            <p:cNvGrpSpPr/>
            <p:nvPr/>
          </p:nvGrpSpPr>
          <p:grpSpPr>
            <a:xfrm>
              <a:off x="4572000" y="4940105"/>
              <a:ext cx="4165333" cy="902550"/>
              <a:chOff x="0" y="0"/>
              <a:chExt cx="10085222" cy="2185280"/>
            </a:xfrm>
          </p:grpSpPr>
          <p:grpSp>
            <p:nvGrpSpPr>
              <p:cNvPr id="40" name="Group 33">
                <a:extLst>
                  <a:ext uri="{FF2B5EF4-FFF2-40B4-BE49-F238E27FC236}">
                    <a16:creationId xmlns:a16="http://schemas.microsoft.com/office/drawing/2014/main" id="{AD5FCBCD-1DD6-43FC-9ADE-300169438D17}"/>
                  </a:ext>
                </a:extLst>
              </p:cNvPr>
              <p:cNvGrpSpPr/>
              <p:nvPr/>
            </p:nvGrpSpPr>
            <p:grpSpPr>
              <a:xfrm>
                <a:off x="0" y="0"/>
                <a:ext cx="3575587" cy="2185280"/>
                <a:chOff x="0" y="0"/>
                <a:chExt cx="646995" cy="395422"/>
              </a:xfrm>
            </p:grpSpPr>
            <p:sp>
              <p:nvSpPr>
                <p:cNvPr id="47" name="Freeform 34">
                  <a:extLst>
                    <a:ext uri="{FF2B5EF4-FFF2-40B4-BE49-F238E27FC236}">
                      <a16:creationId xmlns:a16="http://schemas.microsoft.com/office/drawing/2014/main" id="{71182EB2-CE64-4750-81E3-67825811531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46995" cy="395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6995" h="395422">
                      <a:moveTo>
                        <a:pt x="0" y="0"/>
                      </a:moveTo>
                      <a:lnTo>
                        <a:pt x="646995" y="0"/>
                      </a:lnTo>
                      <a:lnTo>
                        <a:pt x="646995" y="395422"/>
                      </a:lnTo>
                      <a:lnTo>
                        <a:pt x="0" y="395422"/>
                      </a:lnTo>
                      <a:close/>
                    </a:path>
                  </a:pathLst>
                </a:custGeom>
                <a:solidFill>
                  <a:srgbClr val="08293E"/>
                </a:solidFill>
              </p:spPr>
            </p:sp>
            <p:sp>
              <p:nvSpPr>
                <p:cNvPr id="48" name="TextBox 35">
                  <a:extLst>
                    <a:ext uri="{FF2B5EF4-FFF2-40B4-BE49-F238E27FC236}">
                      <a16:creationId xmlns:a16="http://schemas.microsoft.com/office/drawing/2014/main" id="{A366B9C7-D296-4DB2-8A79-7E0E46638066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46995" cy="433522"/>
                </a:xfrm>
                <a:prstGeom prst="rect">
                  <a:avLst/>
                </a:prstGeom>
              </p:spPr>
              <p:txBody>
                <a:bodyPr lIns="55456" tIns="55456" rIns="55456" bIns="55456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 sz="1600"/>
                </a:p>
              </p:txBody>
            </p:sp>
          </p:grpSp>
          <p:grpSp>
            <p:nvGrpSpPr>
              <p:cNvPr id="41" name="Group 36">
                <a:extLst>
                  <a:ext uri="{FF2B5EF4-FFF2-40B4-BE49-F238E27FC236}">
                    <a16:creationId xmlns:a16="http://schemas.microsoft.com/office/drawing/2014/main" id="{F1EE063A-F130-482A-8872-09A1DD5CE8B5}"/>
                  </a:ext>
                </a:extLst>
              </p:cNvPr>
              <p:cNvGrpSpPr/>
              <p:nvPr/>
            </p:nvGrpSpPr>
            <p:grpSpPr>
              <a:xfrm>
                <a:off x="3575587" y="0"/>
                <a:ext cx="3144661" cy="2185280"/>
                <a:chOff x="0" y="0"/>
                <a:chExt cx="569020" cy="395422"/>
              </a:xfrm>
            </p:grpSpPr>
            <p:sp>
              <p:nvSpPr>
                <p:cNvPr id="45" name="Freeform 37">
                  <a:extLst>
                    <a:ext uri="{FF2B5EF4-FFF2-40B4-BE49-F238E27FC236}">
                      <a16:creationId xmlns:a16="http://schemas.microsoft.com/office/drawing/2014/main" id="{93260BE2-362E-4001-9B3A-DE431C8CA6D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69020" cy="395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020" h="395422">
                      <a:moveTo>
                        <a:pt x="0" y="0"/>
                      </a:moveTo>
                      <a:lnTo>
                        <a:pt x="569020" y="0"/>
                      </a:lnTo>
                      <a:lnTo>
                        <a:pt x="569020" y="395422"/>
                      </a:lnTo>
                      <a:lnTo>
                        <a:pt x="0" y="395422"/>
                      </a:lnTo>
                      <a:close/>
                    </a:path>
                  </a:pathLst>
                </a:custGeom>
                <a:solidFill>
                  <a:srgbClr val="08293E">
                    <a:alpha val="83922"/>
                  </a:srgbClr>
                </a:solidFill>
              </p:spPr>
            </p:sp>
            <p:sp>
              <p:nvSpPr>
                <p:cNvPr id="46" name="TextBox 38">
                  <a:extLst>
                    <a:ext uri="{FF2B5EF4-FFF2-40B4-BE49-F238E27FC236}">
                      <a16:creationId xmlns:a16="http://schemas.microsoft.com/office/drawing/2014/main" id="{9FA6CED1-A2DF-4698-8177-702BB7AB7FB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569020" cy="433522"/>
                </a:xfrm>
                <a:prstGeom prst="rect">
                  <a:avLst/>
                </a:prstGeom>
              </p:spPr>
              <p:txBody>
                <a:bodyPr lIns="55456" tIns="55456" rIns="55456" bIns="55456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 sz="1600"/>
                </a:p>
              </p:txBody>
            </p:sp>
          </p:grpSp>
          <p:grpSp>
            <p:nvGrpSpPr>
              <p:cNvPr id="42" name="Group 39">
                <a:extLst>
                  <a:ext uri="{FF2B5EF4-FFF2-40B4-BE49-F238E27FC236}">
                    <a16:creationId xmlns:a16="http://schemas.microsoft.com/office/drawing/2014/main" id="{6E0B071A-4D8A-4FBA-9E74-B29E6E7307A1}"/>
                  </a:ext>
                </a:extLst>
              </p:cNvPr>
              <p:cNvGrpSpPr/>
              <p:nvPr/>
            </p:nvGrpSpPr>
            <p:grpSpPr>
              <a:xfrm>
                <a:off x="6720248" y="0"/>
                <a:ext cx="3364974" cy="2185280"/>
                <a:chOff x="0" y="0"/>
                <a:chExt cx="608885" cy="395422"/>
              </a:xfrm>
            </p:grpSpPr>
            <p:sp>
              <p:nvSpPr>
                <p:cNvPr id="43" name="Freeform 40">
                  <a:extLst>
                    <a:ext uri="{FF2B5EF4-FFF2-40B4-BE49-F238E27FC236}">
                      <a16:creationId xmlns:a16="http://schemas.microsoft.com/office/drawing/2014/main" id="{977EE454-94A1-48E2-A87C-E155AD16E90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08885" cy="395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8885" h="395422">
                      <a:moveTo>
                        <a:pt x="0" y="0"/>
                      </a:moveTo>
                      <a:lnTo>
                        <a:pt x="608885" y="0"/>
                      </a:lnTo>
                      <a:lnTo>
                        <a:pt x="608885" y="395422"/>
                      </a:lnTo>
                      <a:lnTo>
                        <a:pt x="0" y="395422"/>
                      </a:lnTo>
                      <a:close/>
                    </a:path>
                  </a:pathLst>
                </a:custGeom>
                <a:solidFill>
                  <a:srgbClr val="08293E">
                    <a:alpha val="67843"/>
                  </a:srgbClr>
                </a:solidFill>
              </p:spPr>
            </p:sp>
            <p:sp>
              <p:nvSpPr>
                <p:cNvPr id="44" name="TextBox 41">
                  <a:extLst>
                    <a:ext uri="{FF2B5EF4-FFF2-40B4-BE49-F238E27FC236}">
                      <a16:creationId xmlns:a16="http://schemas.microsoft.com/office/drawing/2014/main" id="{F50E98FF-5F0D-4A5D-A438-9EBEE1E993A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08885" cy="433522"/>
                </a:xfrm>
                <a:prstGeom prst="rect">
                  <a:avLst/>
                </a:prstGeom>
              </p:spPr>
              <p:txBody>
                <a:bodyPr lIns="55456" tIns="55456" rIns="55456" bIns="55456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 sz="1600"/>
                </a:p>
              </p:txBody>
            </p:sp>
          </p:grp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E63FC7D-3DF4-4940-A18E-B776BAF8CD0B}"/>
                </a:ext>
              </a:extLst>
            </p:cNvPr>
            <p:cNvSpPr txBox="1"/>
            <p:nvPr/>
          </p:nvSpPr>
          <p:spPr>
            <a:xfrm>
              <a:off x="4708284" y="5092640"/>
              <a:ext cx="1162503" cy="5539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Roboco"/>
                </a:rPr>
                <a:t>Montaje y Mantenimiento de Cuadros Eléctricos</a:t>
              </a:r>
              <a:endParaRPr lang="en-US" sz="1200" dirty="0">
                <a:solidFill>
                  <a:schemeClr val="bg1"/>
                </a:solidFill>
                <a:latin typeface="Roboco"/>
                <a:ea typeface="Roboto" panose="02000000000000000000" pitchFamily="2" charset="0"/>
                <a:cs typeface="Montserrat"/>
                <a:sym typeface="Montserrat"/>
              </a:endParaRPr>
            </a:p>
          </p:txBody>
        </p:sp>
        <p:sp>
          <p:nvSpPr>
            <p:cNvPr id="69" name="TextBox 69">
              <a:extLst>
                <a:ext uri="{FF2B5EF4-FFF2-40B4-BE49-F238E27FC236}">
                  <a16:creationId xmlns:a16="http://schemas.microsoft.com/office/drawing/2014/main" id="{76CA9E7D-A51D-41FD-B9DB-EB7184ACD94E}"/>
                </a:ext>
              </a:extLst>
            </p:cNvPr>
            <p:cNvSpPr txBox="1"/>
            <p:nvPr/>
          </p:nvSpPr>
          <p:spPr>
            <a:xfrm>
              <a:off x="6023761" y="5092640"/>
              <a:ext cx="1298787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bg1"/>
                  </a:solidFill>
                  <a:latin typeface="Roboco"/>
                </a:rPr>
                <a:t>Instalaciones Industriales de Baja, Media  y Alta Tensión</a:t>
              </a:r>
              <a:endParaRPr lang="en-US" sz="1200" dirty="0">
                <a:solidFill>
                  <a:schemeClr val="bg1"/>
                </a:solidFill>
                <a:latin typeface="Roboco"/>
                <a:ea typeface="Roboto" panose="02000000000000000000" pitchFamily="2" charset="0"/>
                <a:cs typeface="Montserrat"/>
                <a:sym typeface="Montserrat"/>
              </a:endParaRPr>
            </a:p>
          </p:txBody>
        </p:sp>
        <p:sp>
          <p:nvSpPr>
            <p:cNvPr id="70" name="TextBox 70">
              <a:extLst>
                <a:ext uri="{FF2B5EF4-FFF2-40B4-BE49-F238E27FC236}">
                  <a16:creationId xmlns:a16="http://schemas.microsoft.com/office/drawing/2014/main" id="{05672073-3D57-4EA3-990B-36B4499DAED5}"/>
                </a:ext>
              </a:extLst>
            </p:cNvPr>
            <p:cNvSpPr txBox="1"/>
            <p:nvPr/>
          </p:nvSpPr>
          <p:spPr>
            <a:xfrm>
              <a:off x="7437422" y="5184973"/>
              <a:ext cx="1114563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1200" dirty="0" err="1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Montserrat"/>
                  <a:sym typeface="Montserrat"/>
                </a:rPr>
                <a:t>Evaluación</a:t>
              </a:r>
              <a:r>
                <a:rPr lang="en-US" sz="120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Montserrat"/>
                  <a:sym typeface="Montserrat"/>
                </a:rPr>
                <a:t> continua</a:t>
              </a:r>
            </a:p>
          </p:txBody>
        </p:sp>
      </p:grpSp>
      <p:sp>
        <p:nvSpPr>
          <p:cNvPr id="71" name="TextBox 28">
            <a:extLst>
              <a:ext uri="{FF2B5EF4-FFF2-40B4-BE49-F238E27FC236}">
                <a16:creationId xmlns:a16="http://schemas.microsoft.com/office/drawing/2014/main" id="{0EA5AE37-5AFF-47F5-AB41-E4BC5FFF4DC4}"/>
              </a:ext>
            </a:extLst>
          </p:cNvPr>
          <p:cNvSpPr txBox="1"/>
          <p:nvPr/>
        </p:nvSpPr>
        <p:spPr>
          <a:xfrm>
            <a:off x="4686301" y="978677"/>
            <a:ext cx="348988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s-ES" sz="1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s-ES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Nuestro Compromiso es con la Ejecución Técnica de Alta Calidad.</a:t>
            </a:r>
          </a:p>
          <a:p>
            <a:endParaRPr lang="es-ES" sz="1600" b="1" spc="-95" dirty="0">
              <a:solidFill>
                <a:srgbClr val="082A3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mpton Semi-Bold"/>
            </a:endParaRPr>
          </a:p>
          <a:p>
            <a:endParaRPr lang="en-US" sz="1600" b="1" spc="-95" dirty="0">
              <a:solidFill>
                <a:srgbClr val="082A3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Campton Semi-Bold"/>
            </a:endParaRPr>
          </a:p>
        </p:txBody>
      </p:sp>
      <p:sp>
        <p:nvSpPr>
          <p:cNvPr id="72" name="TextBox 30">
            <a:extLst>
              <a:ext uri="{FF2B5EF4-FFF2-40B4-BE49-F238E27FC236}">
                <a16:creationId xmlns:a16="http://schemas.microsoft.com/office/drawing/2014/main" id="{EF5AF0C2-8525-489D-9F59-4AEA3919023F}"/>
              </a:ext>
            </a:extLst>
          </p:cNvPr>
          <p:cNvSpPr txBox="1"/>
          <p:nvPr/>
        </p:nvSpPr>
        <p:spPr>
          <a:xfrm>
            <a:off x="4686301" y="4511899"/>
            <a:ext cx="4197857" cy="392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15"/>
              </a:lnSpc>
            </a:pPr>
            <a:r>
              <a:rPr lang="es-ES" sz="1600" b="1" dirty="0">
                <a:latin typeface="Roboco"/>
              </a:rPr>
              <a:t>Capacidades Clave</a:t>
            </a:r>
            <a:endParaRPr lang="en-US" sz="1600" b="1" spc="-95" dirty="0">
              <a:solidFill>
                <a:srgbClr val="082A3E"/>
              </a:solidFill>
              <a:latin typeface="Roboco"/>
              <a:ea typeface="Roboto Medium" panose="02000000000000000000" pitchFamily="2" charset="0"/>
              <a:cs typeface="Campton Semi-Bold"/>
              <a:sym typeface="Campton Semi-Bold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99E94D5-4944-31EE-6DC3-37F2BDD18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8435" y="40848"/>
            <a:ext cx="3475565" cy="105938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97" y="1873700"/>
            <a:ext cx="2824441" cy="189896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30" y="3938357"/>
            <a:ext cx="2824442" cy="223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18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32">
            <a:extLst>
              <a:ext uri="{FF2B5EF4-FFF2-40B4-BE49-F238E27FC236}">
                <a16:creationId xmlns:a16="http://schemas.microsoft.com/office/drawing/2014/main" id="{28BA0174-B7A8-4B58-83BC-37F3955F55C9}"/>
              </a:ext>
            </a:extLst>
          </p:cNvPr>
          <p:cNvGrpSpPr/>
          <p:nvPr/>
        </p:nvGrpSpPr>
        <p:grpSpPr>
          <a:xfrm>
            <a:off x="4526503" y="2171563"/>
            <a:ext cx="4165333" cy="902550"/>
            <a:chOff x="0" y="0"/>
            <a:chExt cx="10085222" cy="2185280"/>
          </a:xfrm>
        </p:grpSpPr>
        <p:grpSp>
          <p:nvGrpSpPr>
            <p:cNvPr id="72" name="Group 33">
              <a:extLst>
                <a:ext uri="{FF2B5EF4-FFF2-40B4-BE49-F238E27FC236}">
                  <a16:creationId xmlns:a16="http://schemas.microsoft.com/office/drawing/2014/main" id="{F3974288-E4C6-4506-A85D-80A0D059252A}"/>
                </a:ext>
              </a:extLst>
            </p:cNvPr>
            <p:cNvGrpSpPr/>
            <p:nvPr/>
          </p:nvGrpSpPr>
          <p:grpSpPr>
            <a:xfrm>
              <a:off x="0" y="0"/>
              <a:ext cx="3575587" cy="2185280"/>
              <a:chOff x="0" y="0"/>
              <a:chExt cx="646995" cy="395422"/>
            </a:xfrm>
          </p:grpSpPr>
          <p:sp>
            <p:nvSpPr>
              <p:cNvPr id="79" name="Freeform 34">
                <a:extLst>
                  <a:ext uri="{FF2B5EF4-FFF2-40B4-BE49-F238E27FC236}">
                    <a16:creationId xmlns:a16="http://schemas.microsoft.com/office/drawing/2014/main" id="{9A1762CF-4B96-41D7-858D-3CE1D57C11C1}"/>
                  </a:ext>
                </a:extLst>
              </p:cNvPr>
              <p:cNvSpPr/>
              <p:nvPr/>
            </p:nvSpPr>
            <p:spPr>
              <a:xfrm>
                <a:off x="0" y="0"/>
                <a:ext cx="646995" cy="395422"/>
              </a:xfrm>
              <a:custGeom>
                <a:avLst/>
                <a:gdLst/>
                <a:ahLst/>
                <a:cxnLst/>
                <a:rect l="l" t="t" r="r" b="b"/>
                <a:pathLst>
                  <a:path w="646995" h="395422">
                    <a:moveTo>
                      <a:pt x="0" y="0"/>
                    </a:moveTo>
                    <a:lnTo>
                      <a:pt x="646995" y="0"/>
                    </a:lnTo>
                    <a:lnTo>
                      <a:pt x="646995" y="395422"/>
                    </a:lnTo>
                    <a:lnTo>
                      <a:pt x="0" y="395422"/>
                    </a:lnTo>
                    <a:close/>
                  </a:path>
                </a:pathLst>
              </a:custGeom>
              <a:solidFill>
                <a:srgbClr val="08293E"/>
              </a:solidFill>
            </p:spPr>
          </p:sp>
          <p:sp>
            <p:nvSpPr>
              <p:cNvPr id="80" name="TextBox 35">
                <a:extLst>
                  <a:ext uri="{FF2B5EF4-FFF2-40B4-BE49-F238E27FC236}">
                    <a16:creationId xmlns:a16="http://schemas.microsoft.com/office/drawing/2014/main" id="{011B9FA7-EE3F-47C6-88D2-CCFA6F0A7BC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46995" cy="433522"/>
              </a:xfrm>
              <a:prstGeom prst="rect">
                <a:avLst/>
              </a:prstGeom>
            </p:spPr>
            <p:txBody>
              <a:bodyPr lIns="55456" tIns="55456" rIns="55456" bIns="55456" rtlCol="0" anchor="ctr"/>
              <a:lstStyle/>
              <a:p>
                <a:pPr algn="ctr">
                  <a:lnSpc>
                    <a:spcPts val="2660"/>
                  </a:lnSpc>
                </a:pPr>
                <a:endParaRPr sz="1600"/>
              </a:p>
            </p:txBody>
          </p:sp>
        </p:grpSp>
        <p:grpSp>
          <p:nvGrpSpPr>
            <p:cNvPr id="73" name="Group 36">
              <a:extLst>
                <a:ext uri="{FF2B5EF4-FFF2-40B4-BE49-F238E27FC236}">
                  <a16:creationId xmlns:a16="http://schemas.microsoft.com/office/drawing/2014/main" id="{118F2347-A11D-44C6-AF9A-6C28F52CB0F7}"/>
                </a:ext>
              </a:extLst>
            </p:cNvPr>
            <p:cNvGrpSpPr/>
            <p:nvPr/>
          </p:nvGrpSpPr>
          <p:grpSpPr>
            <a:xfrm>
              <a:off x="3575587" y="0"/>
              <a:ext cx="3144661" cy="2185280"/>
              <a:chOff x="0" y="0"/>
              <a:chExt cx="569020" cy="395422"/>
            </a:xfrm>
          </p:grpSpPr>
          <p:sp>
            <p:nvSpPr>
              <p:cNvPr id="77" name="Freeform 37">
                <a:extLst>
                  <a:ext uri="{FF2B5EF4-FFF2-40B4-BE49-F238E27FC236}">
                    <a16:creationId xmlns:a16="http://schemas.microsoft.com/office/drawing/2014/main" id="{EB7577C7-8073-422E-862F-AF0276B39696}"/>
                  </a:ext>
                </a:extLst>
              </p:cNvPr>
              <p:cNvSpPr/>
              <p:nvPr/>
            </p:nvSpPr>
            <p:spPr>
              <a:xfrm>
                <a:off x="0" y="0"/>
                <a:ext cx="569020" cy="395422"/>
              </a:xfrm>
              <a:custGeom>
                <a:avLst/>
                <a:gdLst/>
                <a:ahLst/>
                <a:cxnLst/>
                <a:rect l="l" t="t" r="r" b="b"/>
                <a:pathLst>
                  <a:path w="569020" h="395422">
                    <a:moveTo>
                      <a:pt x="0" y="0"/>
                    </a:moveTo>
                    <a:lnTo>
                      <a:pt x="569020" y="0"/>
                    </a:lnTo>
                    <a:lnTo>
                      <a:pt x="569020" y="395422"/>
                    </a:lnTo>
                    <a:lnTo>
                      <a:pt x="0" y="395422"/>
                    </a:lnTo>
                    <a:close/>
                  </a:path>
                </a:pathLst>
              </a:custGeom>
              <a:solidFill>
                <a:srgbClr val="08293E">
                  <a:alpha val="83922"/>
                </a:srgbClr>
              </a:solidFill>
            </p:spPr>
          </p:sp>
          <p:sp>
            <p:nvSpPr>
              <p:cNvPr id="78" name="TextBox 38">
                <a:extLst>
                  <a:ext uri="{FF2B5EF4-FFF2-40B4-BE49-F238E27FC236}">
                    <a16:creationId xmlns:a16="http://schemas.microsoft.com/office/drawing/2014/main" id="{917907DA-F9C8-4AC3-92B2-3B2AFD643F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69020" cy="433522"/>
              </a:xfrm>
              <a:prstGeom prst="rect">
                <a:avLst/>
              </a:prstGeom>
            </p:spPr>
            <p:txBody>
              <a:bodyPr lIns="55456" tIns="55456" rIns="55456" bIns="55456" rtlCol="0" anchor="ctr"/>
              <a:lstStyle/>
              <a:p>
                <a:pPr algn="ctr">
                  <a:lnSpc>
                    <a:spcPts val="2660"/>
                  </a:lnSpc>
                </a:pPr>
                <a:endParaRPr sz="1600"/>
              </a:p>
            </p:txBody>
          </p:sp>
        </p:grpSp>
        <p:grpSp>
          <p:nvGrpSpPr>
            <p:cNvPr id="74" name="Group 39">
              <a:extLst>
                <a:ext uri="{FF2B5EF4-FFF2-40B4-BE49-F238E27FC236}">
                  <a16:creationId xmlns:a16="http://schemas.microsoft.com/office/drawing/2014/main" id="{7628754C-D670-4E8E-A042-A72C1F5597EB}"/>
                </a:ext>
              </a:extLst>
            </p:cNvPr>
            <p:cNvGrpSpPr/>
            <p:nvPr/>
          </p:nvGrpSpPr>
          <p:grpSpPr>
            <a:xfrm>
              <a:off x="6720248" y="0"/>
              <a:ext cx="3364974" cy="2185280"/>
              <a:chOff x="0" y="0"/>
              <a:chExt cx="608885" cy="395422"/>
            </a:xfrm>
          </p:grpSpPr>
          <p:sp>
            <p:nvSpPr>
              <p:cNvPr id="75" name="Freeform 40">
                <a:extLst>
                  <a:ext uri="{FF2B5EF4-FFF2-40B4-BE49-F238E27FC236}">
                    <a16:creationId xmlns:a16="http://schemas.microsoft.com/office/drawing/2014/main" id="{1A5E4633-F8F6-49EE-9FEE-8C3CF5D22BF5}"/>
                  </a:ext>
                </a:extLst>
              </p:cNvPr>
              <p:cNvSpPr/>
              <p:nvPr/>
            </p:nvSpPr>
            <p:spPr>
              <a:xfrm>
                <a:off x="0" y="0"/>
                <a:ext cx="608885" cy="395422"/>
              </a:xfrm>
              <a:custGeom>
                <a:avLst/>
                <a:gdLst/>
                <a:ahLst/>
                <a:cxnLst/>
                <a:rect l="l" t="t" r="r" b="b"/>
                <a:pathLst>
                  <a:path w="608885" h="395422">
                    <a:moveTo>
                      <a:pt x="0" y="0"/>
                    </a:moveTo>
                    <a:lnTo>
                      <a:pt x="608885" y="0"/>
                    </a:lnTo>
                    <a:lnTo>
                      <a:pt x="608885" y="395422"/>
                    </a:lnTo>
                    <a:lnTo>
                      <a:pt x="0" y="395422"/>
                    </a:lnTo>
                    <a:close/>
                  </a:path>
                </a:pathLst>
              </a:custGeom>
              <a:solidFill>
                <a:srgbClr val="08293E">
                  <a:alpha val="67843"/>
                </a:srgbClr>
              </a:solidFill>
            </p:spPr>
          </p:sp>
          <p:sp>
            <p:nvSpPr>
              <p:cNvPr id="76" name="TextBox 41">
                <a:extLst>
                  <a:ext uri="{FF2B5EF4-FFF2-40B4-BE49-F238E27FC236}">
                    <a16:creationId xmlns:a16="http://schemas.microsoft.com/office/drawing/2014/main" id="{A5E0BB88-6CDD-4574-A967-EE290543160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8885" cy="433522"/>
              </a:xfrm>
              <a:prstGeom prst="rect">
                <a:avLst/>
              </a:prstGeom>
            </p:spPr>
            <p:txBody>
              <a:bodyPr lIns="55456" tIns="55456" rIns="55456" bIns="55456" rtlCol="0" anchor="ctr"/>
              <a:lstStyle/>
              <a:p>
                <a:pPr algn="ctr">
                  <a:lnSpc>
                    <a:spcPts val="2660"/>
                  </a:lnSpc>
                </a:pPr>
                <a:endParaRPr sz="1600"/>
              </a:p>
            </p:txBody>
          </p:sp>
        </p:grp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1EBA3479-5D1D-414C-88D8-3A5C5AB669CC}"/>
              </a:ext>
            </a:extLst>
          </p:cNvPr>
          <p:cNvSpPr/>
          <p:nvPr/>
        </p:nvSpPr>
        <p:spPr>
          <a:xfrm>
            <a:off x="240055" y="1662636"/>
            <a:ext cx="3584275" cy="4675352"/>
          </a:xfrm>
          <a:prstGeom prst="rect">
            <a:avLst/>
          </a:prstGeom>
          <a:solidFill>
            <a:srgbClr val="082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Open Runde" panose="00000500000000000000" pitchFamily="50" charset="0"/>
              <a:ea typeface="Open Runde" panose="00000500000000000000" pitchFamily="50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95E051-1A05-40A3-9C3C-9C8FAF27B915}"/>
              </a:ext>
            </a:extLst>
          </p:cNvPr>
          <p:cNvGrpSpPr/>
          <p:nvPr/>
        </p:nvGrpSpPr>
        <p:grpSpPr>
          <a:xfrm>
            <a:off x="-108708" y="67726"/>
            <a:ext cx="4505550" cy="778937"/>
            <a:chOff x="-108708" y="-2"/>
            <a:chExt cx="4505550" cy="778937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23373FBC-1C3B-4394-8286-1E069EB86808}"/>
                </a:ext>
              </a:extLst>
            </p:cNvPr>
            <p:cNvSpPr/>
            <p:nvPr/>
          </p:nvSpPr>
          <p:spPr>
            <a:xfrm>
              <a:off x="-108708" y="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Áreas de Servicio y Capacidad</a:t>
              </a:r>
              <a:endParaRPr lang="es-VE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06BD9B41-6D73-4C90-83A8-365D8268D68D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ECADA063-F460-46A5-A21A-67729AA7B732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0FC3AC30-8667-4B4B-BC0A-2D2A83BF08F9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8" name="Arrow: Chevron 67">
              <a:extLst>
                <a:ext uri="{FF2B5EF4-FFF2-40B4-BE49-F238E27FC236}">
                  <a16:creationId xmlns:a16="http://schemas.microsoft.com/office/drawing/2014/main" id="{DB17CD1B-EFE9-43B2-9A6A-C1F4830B3506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grpSp>
        <p:nvGrpSpPr>
          <p:cNvPr id="81" name="Group 32">
            <a:extLst>
              <a:ext uri="{FF2B5EF4-FFF2-40B4-BE49-F238E27FC236}">
                <a16:creationId xmlns:a16="http://schemas.microsoft.com/office/drawing/2014/main" id="{8E4C56E9-84FC-49CF-876D-14A98BAB203E}"/>
              </a:ext>
            </a:extLst>
          </p:cNvPr>
          <p:cNvGrpSpPr/>
          <p:nvPr/>
        </p:nvGrpSpPr>
        <p:grpSpPr>
          <a:xfrm>
            <a:off x="4520763" y="5056083"/>
            <a:ext cx="4165333" cy="902550"/>
            <a:chOff x="0" y="0"/>
            <a:chExt cx="10085222" cy="2185280"/>
          </a:xfrm>
        </p:grpSpPr>
        <p:grpSp>
          <p:nvGrpSpPr>
            <p:cNvPr id="82" name="Group 33">
              <a:extLst>
                <a:ext uri="{FF2B5EF4-FFF2-40B4-BE49-F238E27FC236}">
                  <a16:creationId xmlns:a16="http://schemas.microsoft.com/office/drawing/2014/main" id="{EBC94A15-A947-4E60-BE1D-0B6956D7AFE1}"/>
                </a:ext>
              </a:extLst>
            </p:cNvPr>
            <p:cNvGrpSpPr/>
            <p:nvPr/>
          </p:nvGrpSpPr>
          <p:grpSpPr>
            <a:xfrm>
              <a:off x="0" y="0"/>
              <a:ext cx="3575587" cy="2185280"/>
              <a:chOff x="0" y="0"/>
              <a:chExt cx="646995" cy="395422"/>
            </a:xfrm>
          </p:grpSpPr>
          <p:sp>
            <p:nvSpPr>
              <p:cNvPr id="89" name="Freeform 34">
                <a:extLst>
                  <a:ext uri="{FF2B5EF4-FFF2-40B4-BE49-F238E27FC236}">
                    <a16:creationId xmlns:a16="http://schemas.microsoft.com/office/drawing/2014/main" id="{2EA43BB0-917C-4A59-80A1-F5A5FF3381F7}"/>
                  </a:ext>
                </a:extLst>
              </p:cNvPr>
              <p:cNvSpPr/>
              <p:nvPr/>
            </p:nvSpPr>
            <p:spPr>
              <a:xfrm>
                <a:off x="0" y="0"/>
                <a:ext cx="646995" cy="395422"/>
              </a:xfrm>
              <a:custGeom>
                <a:avLst/>
                <a:gdLst/>
                <a:ahLst/>
                <a:cxnLst/>
                <a:rect l="l" t="t" r="r" b="b"/>
                <a:pathLst>
                  <a:path w="646995" h="395422">
                    <a:moveTo>
                      <a:pt x="0" y="0"/>
                    </a:moveTo>
                    <a:lnTo>
                      <a:pt x="646995" y="0"/>
                    </a:lnTo>
                    <a:lnTo>
                      <a:pt x="646995" y="395422"/>
                    </a:lnTo>
                    <a:lnTo>
                      <a:pt x="0" y="395422"/>
                    </a:lnTo>
                    <a:close/>
                  </a:path>
                </a:pathLst>
              </a:custGeom>
              <a:solidFill>
                <a:srgbClr val="08293E"/>
              </a:solidFill>
            </p:spPr>
          </p:sp>
          <p:sp>
            <p:nvSpPr>
              <p:cNvPr id="90" name="TextBox 35">
                <a:extLst>
                  <a:ext uri="{FF2B5EF4-FFF2-40B4-BE49-F238E27FC236}">
                    <a16:creationId xmlns:a16="http://schemas.microsoft.com/office/drawing/2014/main" id="{07487D39-CC38-4EDE-9B20-3AB2E1BD56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46995" cy="433522"/>
              </a:xfrm>
              <a:prstGeom prst="rect">
                <a:avLst/>
              </a:prstGeom>
            </p:spPr>
            <p:txBody>
              <a:bodyPr lIns="55456" tIns="55456" rIns="55456" bIns="55456" rtlCol="0" anchor="ctr"/>
              <a:lstStyle/>
              <a:p>
                <a:pPr algn="ctr">
                  <a:lnSpc>
                    <a:spcPts val="2660"/>
                  </a:lnSpc>
                </a:pPr>
                <a:endParaRPr sz="1600"/>
              </a:p>
            </p:txBody>
          </p:sp>
        </p:grpSp>
        <p:grpSp>
          <p:nvGrpSpPr>
            <p:cNvPr id="83" name="Group 36">
              <a:extLst>
                <a:ext uri="{FF2B5EF4-FFF2-40B4-BE49-F238E27FC236}">
                  <a16:creationId xmlns:a16="http://schemas.microsoft.com/office/drawing/2014/main" id="{D4D5101B-2FE5-4AE9-917B-86ED9CE45CAD}"/>
                </a:ext>
              </a:extLst>
            </p:cNvPr>
            <p:cNvGrpSpPr/>
            <p:nvPr/>
          </p:nvGrpSpPr>
          <p:grpSpPr>
            <a:xfrm>
              <a:off x="3575587" y="0"/>
              <a:ext cx="3144661" cy="2185280"/>
              <a:chOff x="0" y="0"/>
              <a:chExt cx="569020" cy="395422"/>
            </a:xfrm>
          </p:grpSpPr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8B6C60CF-A597-404D-9DD1-4BD7D7CF0BC8}"/>
                  </a:ext>
                </a:extLst>
              </p:cNvPr>
              <p:cNvSpPr/>
              <p:nvPr/>
            </p:nvSpPr>
            <p:spPr>
              <a:xfrm>
                <a:off x="0" y="0"/>
                <a:ext cx="569020" cy="395422"/>
              </a:xfrm>
              <a:custGeom>
                <a:avLst/>
                <a:gdLst/>
                <a:ahLst/>
                <a:cxnLst/>
                <a:rect l="l" t="t" r="r" b="b"/>
                <a:pathLst>
                  <a:path w="569020" h="395422">
                    <a:moveTo>
                      <a:pt x="0" y="0"/>
                    </a:moveTo>
                    <a:lnTo>
                      <a:pt x="569020" y="0"/>
                    </a:lnTo>
                    <a:lnTo>
                      <a:pt x="569020" y="395422"/>
                    </a:lnTo>
                    <a:lnTo>
                      <a:pt x="0" y="395422"/>
                    </a:lnTo>
                    <a:close/>
                  </a:path>
                </a:pathLst>
              </a:custGeom>
              <a:solidFill>
                <a:srgbClr val="08293E">
                  <a:alpha val="83922"/>
                </a:srgbClr>
              </a:solidFill>
            </p:spPr>
          </p:sp>
          <p:sp>
            <p:nvSpPr>
              <p:cNvPr id="88" name="TextBox 38">
                <a:extLst>
                  <a:ext uri="{FF2B5EF4-FFF2-40B4-BE49-F238E27FC236}">
                    <a16:creationId xmlns:a16="http://schemas.microsoft.com/office/drawing/2014/main" id="{BA615FD0-5D9C-4627-8350-304AA7EC5A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569020" cy="433522"/>
              </a:xfrm>
              <a:prstGeom prst="rect">
                <a:avLst/>
              </a:prstGeom>
            </p:spPr>
            <p:txBody>
              <a:bodyPr lIns="55456" tIns="55456" rIns="55456" bIns="55456" rtlCol="0" anchor="ctr"/>
              <a:lstStyle/>
              <a:p>
                <a:pPr algn="ctr">
                  <a:lnSpc>
                    <a:spcPts val="2660"/>
                  </a:lnSpc>
                </a:pPr>
                <a:endParaRPr sz="1600"/>
              </a:p>
            </p:txBody>
          </p:sp>
        </p:grpSp>
        <p:grpSp>
          <p:nvGrpSpPr>
            <p:cNvPr id="84" name="Group 39">
              <a:extLst>
                <a:ext uri="{FF2B5EF4-FFF2-40B4-BE49-F238E27FC236}">
                  <a16:creationId xmlns:a16="http://schemas.microsoft.com/office/drawing/2014/main" id="{87580053-F77C-4700-B838-D8C0023F76A2}"/>
                </a:ext>
              </a:extLst>
            </p:cNvPr>
            <p:cNvGrpSpPr/>
            <p:nvPr/>
          </p:nvGrpSpPr>
          <p:grpSpPr>
            <a:xfrm>
              <a:off x="6720248" y="0"/>
              <a:ext cx="3364974" cy="2185280"/>
              <a:chOff x="0" y="0"/>
              <a:chExt cx="608885" cy="395422"/>
            </a:xfrm>
          </p:grpSpPr>
          <p:sp>
            <p:nvSpPr>
              <p:cNvPr id="85" name="Freeform 40">
                <a:extLst>
                  <a:ext uri="{FF2B5EF4-FFF2-40B4-BE49-F238E27FC236}">
                    <a16:creationId xmlns:a16="http://schemas.microsoft.com/office/drawing/2014/main" id="{F813E842-7BAA-4640-938B-2DD400827844}"/>
                  </a:ext>
                </a:extLst>
              </p:cNvPr>
              <p:cNvSpPr/>
              <p:nvPr/>
            </p:nvSpPr>
            <p:spPr>
              <a:xfrm>
                <a:off x="0" y="0"/>
                <a:ext cx="608885" cy="395422"/>
              </a:xfrm>
              <a:custGeom>
                <a:avLst/>
                <a:gdLst/>
                <a:ahLst/>
                <a:cxnLst/>
                <a:rect l="l" t="t" r="r" b="b"/>
                <a:pathLst>
                  <a:path w="608885" h="395422">
                    <a:moveTo>
                      <a:pt x="0" y="0"/>
                    </a:moveTo>
                    <a:lnTo>
                      <a:pt x="608885" y="0"/>
                    </a:lnTo>
                    <a:lnTo>
                      <a:pt x="608885" y="395422"/>
                    </a:lnTo>
                    <a:lnTo>
                      <a:pt x="0" y="395422"/>
                    </a:lnTo>
                    <a:close/>
                  </a:path>
                </a:pathLst>
              </a:custGeom>
              <a:solidFill>
                <a:srgbClr val="08293E">
                  <a:alpha val="67843"/>
                </a:srgbClr>
              </a:solidFill>
            </p:spPr>
          </p:sp>
          <p:sp>
            <p:nvSpPr>
              <p:cNvPr id="86" name="TextBox 41">
                <a:extLst>
                  <a:ext uri="{FF2B5EF4-FFF2-40B4-BE49-F238E27FC236}">
                    <a16:creationId xmlns:a16="http://schemas.microsoft.com/office/drawing/2014/main" id="{C42EF4CB-88C5-4872-B824-A863D61AD9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8885" cy="433522"/>
              </a:xfrm>
              <a:prstGeom prst="rect">
                <a:avLst/>
              </a:prstGeom>
            </p:spPr>
            <p:txBody>
              <a:bodyPr lIns="55456" tIns="55456" rIns="55456" bIns="55456" rtlCol="0" anchor="ctr"/>
              <a:lstStyle/>
              <a:p>
                <a:pPr algn="ctr">
                  <a:lnSpc>
                    <a:spcPts val="2660"/>
                  </a:lnSpc>
                </a:pPr>
                <a:endParaRPr sz="1600"/>
              </a:p>
            </p:txBody>
          </p:sp>
        </p:grpSp>
      </p:grpSp>
      <p:sp>
        <p:nvSpPr>
          <p:cNvPr id="92" name="TextBox 22">
            <a:extLst>
              <a:ext uri="{FF2B5EF4-FFF2-40B4-BE49-F238E27FC236}">
                <a16:creationId xmlns:a16="http://schemas.microsoft.com/office/drawing/2014/main" id="{32914E48-A20D-4D2E-B586-27CFCFB5B32C}"/>
              </a:ext>
            </a:extLst>
          </p:cNvPr>
          <p:cNvSpPr txBox="1"/>
          <p:nvPr/>
        </p:nvSpPr>
        <p:spPr>
          <a:xfrm>
            <a:off x="4639367" y="1662636"/>
            <a:ext cx="4069080" cy="403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615"/>
              </a:lnSpc>
              <a:defRPr spc="-95">
                <a:solidFill>
                  <a:srgbClr val="082A3E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Campton Semi-Bold"/>
              </a:defRPr>
            </a:lvl1pPr>
          </a:lstStyle>
          <a:p>
            <a:r>
              <a:rPr lang="es-ES" dirty="0"/>
              <a:t>Automatización y Control de Procesos</a:t>
            </a:r>
            <a:endParaRPr lang="en-US" dirty="0">
              <a:sym typeface="Campton Semi-Bold"/>
            </a:endParaRPr>
          </a:p>
        </p:txBody>
      </p:sp>
      <p:sp>
        <p:nvSpPr>
          <p:cNvPr id="93" name="TextBox 23">
            <a:extLst>
              <a:ext uri="{FF2B5EF4-FFF2-40B4-BE49-F238E27FC236}">
                <a16:creationId xmlns:a16="http://schemas.microsoft.com/office/drawing/2014/main" id="{030F77B2-4ED4-48E4-B2CB-DC2D8F6E9DFA}"/>
              </a:ext>
            </a:extLst>
          </p:cNvPr>
          <p:cNvSpPr txBox="1"/>
          <p:nvPr/>
        </p:nvSpPr>
        <p:spPr>
          <a:xfrm>
            <a:off x="4613489" y="4523122"/>
            <a:ext cx="8025017" cy="403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615"/>
              </a:lnSpc>
              <a:defRPr spc="-95">
                <a:solidFill>
                  <a:srgbClr val="082A3E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Campton Semi-Bold"/>
              </a:defRPr>
            </a:lvl1pPr>
          </a:lstStyle>
          <a:p>
            <a:r>
              <a:rPr lang="es-ES" dirty="0"/>
              <a:t>Mantenimiento Predictivo y Correctivo</a:t>
            </a:r>
            <a:endParaRPr lang="en-US" dirty="0">
              <a:sym typeface="Campton Semi-Bold"/>
            </a:endParaRPr>
          </a:p>
        </p:txBody>
      </p:sp>
      <p:sp>
        <p:nvSpPr>
          <p:cNvPr id="94" name="TextBox 24">
            <a:extLst>
              <a:ext uri="{FF2B5EF4-FFF2-40B4-BE49-F238E27FC236}">
                <a16:creationId xmlns:a16="http://schemas.microsoft.com/office/drawing/2014/main" id="{C97DEA2C-39F7-486C-987A-808070BAF54A}"/>
              </a:ext>
            </a:extLst>
          </p:cNvPr>
          <p:cNvSpPr txBox="1"/>
          <p:nvPr/>
        </p:nvSpPr>
        <p:spPr>
          <a:xfrm>
            <a:off x="4635191" y="4130131"/>
            <a:ext cx="136895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200" dirty="0">
                <a:solidFill>
                  <a:schemeClr val="bg1"/>
                </a:solidFill>
                <a:latin typeface="Roboco"/>
              </a:rPr>
              <a:t>PLC/SCADA y telecontrol para optimización </a:t>
            </a:r>
            <a:endParaRPr lang="en-US" sz="1200" dirty="0">
              <a:solidFill>
                <a:schemeClr val="bg1"/>
              </a:solidFill>
              <a:latin typeface="Roboco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TextBox 37">
            <a:extLst>
              <a:ext uri="{FF2B5EF4-FFF2-40B4-BE49-F238E27FC236}">
                <a16:creationId xmlns:a16="http://schemas.microsoft.com/office/drawing/2014/main" id="{573B79CA-4D58-4F40-8E37-8A91B1D6147E}"/>
              </a:ext>
            </a:extLst>
          </p:cNvPr>
          <p:cNvSpPr txBox="1"/>
          <p:nvPr/>
        </p:nvSpPr>
        <p:spPr>
          <a:xfrm>
            <a:off x="4579442" y="5207475"/>
            <a:ext cx="1356824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s-ES" sz="1400" dirty="0">
                <a:latin typeface="Roboco"/>
              </a:rPr>
              <a:t>Servicios programados y de emergencia</a:t>
            </a:r>
            <a:endParaRPr lang="en-US" sz="1400" dirty="0">
              <a:latin typeface="Roboco"/>
              <a:sym typeface="Montserrat"/>
            </a:endParaRPr>
          </a:p>
        </p:txBody>
      </p:sp>
      <p:sp>
        <p:nvSpPr>
          <p:cNvPr id="98" name="TextBox 38">
            <a:extLst>
              <a:ext uri="{FF2B5EF4-FFF2-40B4-BE49-F238E27FC236}">
                <a16:creationId xmlns:a16="http://schemas.microsoft.com/office/drawing/2014/main" id="{1F144380-D582-4963-A30C-B73AD92108A2}"/>
              </a:ext>
            </a:extLst>
          </p:cNvPr>
          <p:cNvSpPr txBox="1"/>
          <p:nvPr/>
        </p:nvSpPr>
        <p:spPr>
          <a:xfrm>
            <a:off x="6041821" y="5315198"/>
            <a:ext cx="119323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s-ES" sz="1400" dirty="0">
                <a:latin typeface="Roboco"/>
              </a:rPr>
              <a:t>Continuidad operativa</a:t>
            </a:r>
            <a:endParaRPr lang="en-US" sz="1400" dirty="0">
              <a:latin typeface="Roboco"/>
              <a:sym typeface="Montserrat"/>
            </a:endParaRPr>
          </a:p>
        </p:txBody>
      </p:sp>
      <p:sp>
        <p:nvSpPr>
          <p:cNvPr id="99" name="TextBox 39">
            <a:extLst>
              <a:ext uri="{FF2B5EF4-FFF2-40B4-BE49-F238E27FC236}">
                <a16:creationId xmlns:a16="http://schemas.microsoft.com/office/drawing/2014/main" id="{5C332BF8-290A-40EB-A22D-51A115166C44}"/>
              </a:ext>
            </a:extLst>
          </p:cNvPr>
          <p:cNvSpPr txBox="1"/>
          <p:nvPr/>
        </p:nvSpPr>
        <p:spPr>
          <a:xfrm>
            <a:off x="7327210" y="5315198"/>
            <a:ext cx="1298787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s-ES" sz="1400" dirty="0">
                <a:latin typeface="Roboco"/>
              </a:rPr>
              <a:t>Legalización y Certificación</a:t>
            </a:r>
            <a:endParaRPr lang="en-US" sz="1400" dirty="0">
              <a:latin typeface="Roboco"/>
              <a:sym typeface="Montserra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6436B78-F107-A5ED-934A-781AA91FE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9725" y="0"/>
            <a:ext cx="3584275" cy="1219200"/>
          </a:xfrm>
          <a:prstGeom prst="rect">
            <a:avLst/>
          </a:prstGeom>
        </p:spPr>
      </p:pic>
      <p:sp>
        <p:nvSpPr>
          <p:cNvPr id="40" name="TextBox 37">
            <a:extLst>
              <a:ext uri="{FF2B5EF4-FFF2-40B4-BE49-F238E27FC236}">
                <a16:creationId xmlns:a16="http://schemas.microsoft.com/office/drawing/2014/main" id="{573B79CA-4D58-4F40-8E37-8A91B1D6147E}"/>
              </a:ext>
            </a:extLst>
          </p:cNvPr>
          <p:cNvSpPr txBox="1"/>
          <p:nvPr/>
        </p:nvSpPr>
        <p:spPr>
          <a:xfrm>
            <a:off x="4613489" y="2285895"/>
            <a:ext cx="1356824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s-ES" sz="1400" dirty="0"/>
              <a:t>Diseño e Integración de Sistemas</a:t>
            </a:r>
            <a:endParaRPr lang="en-US" sz="1400" dirty="0">
              <a:latin typeface="Roboco"/>
              <a:sym typeface="Montserrat"/>
            </a:endParaRPr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573B79CA-4D58-4F40-8E37-8A91B1D6147E}"/>
              </a:ext>
            </a:extLst>
          </p:cNvPr>
          <p:cNvSpPr txBox="1"/>
          <p:nvPr/>
        </p:nvSpPr>
        <p:spPr>
          <a:xfrm>
            <a:off x="5974250" y="2299672"/>
            <a:ext cx="1356824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s-ES" sz="1400" dirty="0"/>
              <a:t>Monitoreo y Supervisión en Tiempo Real</a:t>
            </a:r>
            <a:endParaRPr lang="en-US" sz="1400" dirty="0">
              <a:latin typeface="Roboco"/>
              <a:sym typeface="Montserrat"/>
            </a:endParaRPr>
          </a:p>
        </p:txBody>
      </p:sp>
      <p:sp>
        <p:nvSpPr>
          <p:cNvPr id="42" name="TextBox 37">
            <a:extLst>
              <a:ext uri="{FF2B5EF4-FFF2-40B4-BE49-F238E27FC236}">
                <a16:creationId xmlns:a16="http://schemas.microsoft.com/office/drawing/2014/main" id="{573B79CA-4D58-4F40-8E37-8A91B1D6147E}"/>
              </a:ext>
            </a:extLst>
          </p:cNvPr>
          <p:cNvSpPr txBox="1"/>
          <p:nvPr/>
        </p:nvSpPr>
        <p:spPr>
          <a:xfrm>
            <a:off x="7273111" y="2322417"/>
            <a:ext cx="1356824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s-ES" sz="1400" dirty="0"/>
              <a:t>Optimización y Eficiencia Operativa</a:t>
            </a:r>
            <a:endParaRPr lang="en-US" sz="1400" dirty="0">
              <a:latin typeface="Roboco"/>
              <a:sym typeface="Montserrat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63" y="1820453"/>
            <a:ext cx="2703147" cy="208477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50" y="4055004"/>
            <a:ext cx="2721059" cy="203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99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86C4B732-9C5C-40EA-B713-8A57043C38BE}"/>
              </a:ext>
            </a:extLst>
          </p:cNvPr>
          <p:cNvSpPr/>
          <p:nvPr/>
        </p:nvSpPr>
        <p:spPr>
          <a:xfrm>
            <a:off x="350761" y="1042214"/>
            <a:ext cx="6578221" cy="5322183"/>
          </a:xfrm>
          <a:prstGeom prst="rect">
            <a:avLst/>
          </a:prstGeom>
          <a:solidFill>
            <a:srgbClr val="082A3E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solidFill>
                <a:schemeClr val="tx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95E051-1A05-40A3-9C3C-9C8FAF27B915}"/>
              </a:ext>
            </a:extLst>
          </p:cNvPr>
          <p:cNvGrpSpPr/>
          <p:nvPr/>
        </p:nvGrpSpPr>
        <p:grpSpPr>
          <a:xfrm>
            <a:off x="-108708" y="67726"/>
            <a:ext cx="4505550" cy="778937"/>
            <a:chOff x="-108708" y="-2"/>
            <a:chExt cx="4505550" cy="778937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23373FBC-1C3B-4394-8286-1E069EB86808}"/>
                </a:ext>
              </a:extLst>
            </p:cNvPr>
            <p:cNvSpPr/>
            <p:nvPr/>
          </p:nvSpPr>
          <p:spPr>
            <a:xfrm>
              <a:off x="-108708" y="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dirty="0"/>
                <a:t>Propuesta de Valor y Enfoque</a:t>
              </a:r>
              <a:endParaRPr lang="es-VE" sz="24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endParaRP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06BD9B41-6D73-4C90-83A8-365D8268D68D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ECADA063-F460-46A5-A21A-67729AA7B732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0FC3AC30-8667-4B4B-BC0A-2D2A83BF08F9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8" name="Arrow: Chevron 67">
              <a:extLst>
                <a:ext uri="{FF2B5EF4-FFF2-40B4-BE49-F238E27FC236}">
                  <a16:creationId xmlns:a16="http://schemas.microsoft.com/office/drawing/2014/main" id="{DB17CD1B-EFE9-43B2-9A6A-C1F4830B3506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sp>
        <p:nvSpPr>
          <p:cNvPr id="92" name="TextBox 22">
            <a:extLst>
              <a:ext uri="{FF2B5EF4-FFF2-40B4-BE49-F238E27FC236}">
                <a16:creationId xmlns:a16="http://schemas.microsoft.com/office/drawing/2014/main" id="{32914E48-A20D-4D2E-B586-27CFCFB5B32C}"/>
              </a:ext>
            </a:extLst>
          </p:cNvPr>
          <p:cNvSpPr txBox="1"/>
          <p:nvPr/>
        </p:nvSpPr>
        <p:spPr>
          <a:xfrm>
            <a:off x="491319" y="2006222"/>
            <a:ext cx="3675205" cy="3600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3615"/>
              </a:lnSpc>
              <a:defRPr spc="-95">
                <a:solidFill>
                  <a:srgbClr val="082A3E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Campton Semi-Bold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s-ES" dirty="0">
                <a:solidFill>
                  <a:schemeClr val="bg1"/>
                </a:solidFill>
                <a:latin typeface="Rocolo"/>
              </a:rPr>
              <a:t>Nos entusiasma presentar nuestra propuesta de valor, diseñada para establecer una asociación técnica y estratégica con Grupo Cobra que garantice la ejecución óptima de su licitación de obra.</a:t>
            </a:r>
            <a:br>
              <a:rPr lang="es-ES" dirty="0">
                <a:solidFill>
                  <a:schemeClr val="bg1"/>
                </a:solidFill>
                <a:latin typeface="Rocolo"/>
              </a:rPr>
            </a:br>
            <a:r>
              <a:rPr lang="es-ES" dirty="0">
                <a:solidFill>
                  <a:schemeClr val="bg1"/>
                </a:solidFill>
                <a:latin typeface="Rocolo"/>
              </a:rPr>
              <a:t>Definimos el alcance y la metodología para asegurar resultados con calidad, seguridad y cumplimiento de plazos (ingeniería de detalle, planificación, QA/QC, comisionado, “as </a:t>
            </a:r>
            <a:r>
              <a:rPr lang="es-ES" dirty="0" err="1">
                <a:solidFill>
                  <a:schemeClr val="bg1"/>
                </a:solidFill>
                <a:latin typeface="Rocolo"/>
              </a:rPr>
              <a:t>built</a:t>
            </a:r>
            <a:r>
              <a:rPr lang="es-ES" dirty="0">
                <a:solidFill>
                  <a:schemeClr val="bg1"/>
                </a:solidFill>
                <a:latin typeface="Rocolo"/>
              </a:rPr>
              <a:t>”, manuales y formación).</a:t>
            </a:r>
          </a:p>
          <a:p>
            <a:pPr algn="ctr">
              <a:lnSpc>
                <a:spcPct val="100000"/>
              </a:lnSpc>
            </a:pPr>
            <a:endParaRPr lang="en-US" dirty="0">
              <a:solidFill>
                <a:schemeClr val="bg1"/>
              </a:solidFill>
              <a:sym typeface="Campton Semi-Bold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FD4FDA2-35CE-4B22-81FB-BD0958CE7975}"/>
              </a:ext>
            </a:extLst>
          </p:cNvPr>
          <p:cNvSpPr/>
          <p:nvPr/>
        </p:nvSpPr>
        <p:spPr>
          <a:xfrm>
            <a:off x="116536" y="1643787"/>
            <a:ext cx="8910930" cy="510624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73C31B7-9DCC-4A46-92EA-E11C6C87BC7E}"/>
              </a:ext>
            </a:extLst>
          </p:cNvPr>
          <p:cNvGrpSpPr/>
          <p:nvPr/>
        </p:nvGrpSpPr>
        <p:grpSpPr>
          <a:xfrm>
            <a:off x="4396841" y="1042214"/>
            <a:ext cx="8586917" cy="5322183"/>
            <a:chOff x="-5814858" y="1262681"/>
            <a:chExt cx="9708725" cy="6869588"/>
          </a:xfrm>
        </p:grpSpPr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039BD9BE-80A1-4183-B575-729FA41E0C2C}"/>
                </a:ext>
              </a:extLst>
            </p:cNvPr>
            <p:cNvSpPr/>
            <p:nvPr/>
          </p:nvSpPr>
          <p:spPr>
            <a:xfrm>
              <a:off x="-2017283" y="1274269"/>
              <a:ext cx="5911150" cy="6858000"/>
            </a:xfrm>
            <a:prstGeom prst="parallelogram">
              <a:avLst>
                <a:gd name="adj" fmla="val 48538"/>
              </a:avLst>
            </a:prstGeom>
            <a:solidFill>
              <a:srgbClr val="082A3E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 dirty="0">
                <a:latin typeface="Open Runde" panose="00000500000000000000" pitchFamily="50" charset="0"/>
                <a:ea typeface="Open Runde" panose="00000500000000000000" pitchFamily="50" charset="0"/>
              </a:endParaRPr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E711BFE1-70B6-4B8D-98F1-12B7DBEB89A8}"/>
                </a:ext>
              </a:extLst>
            </p:cNvPr>
            <p:cNvSpPr/>
            <p:nvPr/>
          </p:nvSpPr>
          <p:spPr>
            <a:xfrm>
              <a:off x="-5814858" y="1262681"/>
              <a:ext cx="5911151" cy="6858001"/>
            </a:xfrm>
            <a:prstGeom prst="parallelogram">
              <a:avLst>
                <a:gd name="adj" fmla="val 48538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 dirty="0">
                <a:latin typeface="Open Runde" panose="00000500000000000000" pitchFamily="50" charset="0"/>
                <a:ea typeface="Open Runde" panose="00000500000000000000" pitchFamily="50" charset="0"/>
              </a:endParaRPr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2C699136-7249-8DA4-7940-4377DDC7E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9725" y="0"/>
            <a:ext cx="3584275" cy="105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9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BB0533-7044-48B8-BB8D-E107DB2A9369}"/>
              </a:ext>
            </a:extLst>
          </p:cNvPr>
          <p:cNvSpPr/>
          <p:nvPr/>
        </p:nvSpPr>
        <p:spPr>
          <a:xfrm>
            <a:off x="285548" y="1292343"/>
            <a:ext cx="8858452" cy="5565657"/>
          </a:xfrm>
          <a:prstGeom prst="rect">
            <a:avLst/>
          </a:prstGeom>
          <a:solidFill>
            <a:srgbClr val="082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Open Runde" panose="00000500000000000000" pitchFamily="50" charset="0"/>
              <a:ea typeface="Open Runde" panose="00000500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5B686-860A-484E-8C90-94EE20FFD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21" b="7621"/>
          <a:stretch/>
        </p:blipFill>
        <p:spPr>
          <a:xfrm>
            <a:off x="-2726363" y="1292343"/>
            <a:ext cx="6596554" cy="5591055"/>
          </a:xfrm>
          <a:prstGeom prst="parallelogram">
            <a:avLst>
              <a:gd name="adj" fmla="val 49151"/>
            </a:avLst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3A97EDE-6209-4B86-A43A-AF9D91995E71}"/>
              </a:ext>
            </a:extLst>
          </p:cNvPr>
          <p:cNvSpPr txBox="1"/>
          <p:nvPr/>
        </p:nvSpPr>
        <p:spPr>
          <a:xfrm>
            <a:off x="3557719" y="1935178"/>
            <a:ext cx="550335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Roboco"/>
              </a:rPr>
              <a:t>Hitos sugeridos:</a:t>
            </a:r>
            <a:endParaRPr lang="es-ES" sz="2000" dirty="0">
              <a:solidFill>
                <a:schemeClr val="bg1"/>
              </a:solidFill>
              <a:latin typeface="Roboco"/>
            </a:endParaRPr>
          </a:p>
          <a:p>
            <a:r>
              <a:rPr lang="es-ES" sz="2000" dirty="0">
                <a:solidFill>
                  <a:schemeClr val="bg1"/>
                </a:solidFill>
                <a:latin typeface="Roboco"/>
              </a:rPr>
              <a:t>Ingeniería → Suministros → Montaje → Pruebas y Puesta en Marcha.</a:t>
            </a:r>
            <a:br>
              <a:rPr lang="es-ES" sz="2000" dirty="0">
                <a:solidFill>
                  <a:schemeClr val="bg1"/>
                </a:solidFill>
                <a:latin typeface="Roboco"/>
              </a:rPr>
            </a:br>
            <a:r>
              <a:rPr lang="es-ES" sz="2000" b="1" dirty="0">
                <a:solidFill>
                  <a:schemeClr val="bg1"/>
                </a:solidFill>
                <a:latin typeface="Roboco"/>
              </a:rPr>
              <a:t>Seguimiento:</a:t>
            </a:r>
            <a:r>
              <a:rPr lang="es-ES" sz="2000" dirty="0">
                <a:solidFill>
                  <a:schemeClr val="bg1"/>
                </a:solidFill>
                <a:latin typeface="Roboco"/>
              </a:rPr>
              <a:t> reportes semanales de avance, control de riesgos, coordinación de actividades y entregables.</a:t>
            </a:r>
            <a:br>
              <a:rPr lang="es-ES" sz="2000" dirty="0">
                <a:solidFill>
                  <a:schemeClr val="bg1"/>
                </a:solidFill>
                <a:latin typeface="Roboco"/>
              </a:rPr>
            </a:br>
            <a:r>
              <a:rPr lang="es-ES" sz="2000" i="1" dirty="0">
                <a:solidFill>
                  <a:schemeClr val="bg1"/>
                </a:solidFill>
                <a:latin typeface="Roboco"/>
              </a:rPr>
              <a:t>(Sustituir por semanas/fechas reales del proyecto.)</a:t>
            </a:r>
            <a:endParaRPr lang="es-ES" sz="2000" dirty="0">
              <a:solidFill>
                <a:schemeClr val="bg1"/>
              </a:solidFill>
              <a:latin typeface="Roboco"/>
            </a:endParaRPr>
          </a:p>
          <a:p>
            <a:pPr marL="342900" indent="-342900" algn="just">
              <a:buFont typeface="+mj-lt"/>
              <a:buAutoNum type="arabicPeriod"/>
            </a:pPr>
            <a:endParaRPr lang="es-E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95E051-1A05-40A3-9C3C-9C8FAF27B915}"/>
              </a:ext>
            </a:extLst>
          </p:cNvPr>
          <p:cNvGrpSpPr/>
          <p:nvPr/>
        </p:nvGrpSpPr>
        <p:grpSpPr>
          <a:xfrm>
            <a:off x="-108708" y="67726"/>
            <a:ext cx="4505550" cy="778937"/>
            <a:chOff x="-108708" y="-2"/>
            <a:chExt cx="4505550" cy="778937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23373FBC-1C3B-4394-8286-1E069EB86808}"/>
                </a:ext>
              </a:extLst>
            </p:cNvPr>
            <p:cNvSpPr/>
            <p:nvPr/>
          </p:nvSpPr>
          <p:spPr>
            <a:xfrm>
              <a:off x="-108708" y="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dirty="0"/>
                <a:t>Programación de Obra (Cronograma)</a:t>
              </a:r>
              <a:endParaRPr lang="es-VE" sz="24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endParaRP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06BD9B41-6D73-4C90-83A8-365D8268D68D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ECADA063-F460-46A5-A21A-67729AA7B732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0FC3AC30-8667-4B4B-BC0A-2D2A83BF08F9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8" name="Arrow: Chevron 67">
              <a:extLst>
                <a:ext uri="{FF2B5EF4-FFF2-40B4-BE49-F238E27FC236}">
                  <a16:creationId xmlns:a16="http://schemas.microsoft.com/office/drawing/2014/main" id="{DB17CD1B-EFE9-43B2-9A6A-C1F4830B3506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96D8B870-174E-FFB3-D53E-29320A7B1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479" y="0"/>
            <a:ext cx="4166522" cy="129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40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BB0533-7044-48B8-BB8D-E107DB2A9369}"/>
              </a:ext>
            </a:extLst>
          </p:cNvPr>
          <p:cNvSpPr/>
          <p:nvPr/>
        </p:nvSpPr>
        <p:spPr>
          <a:xfrm>
            <a:off x="285548" y="1292343"/>
            <a:ext cx="8858452" cy="5565657"/>
          </a:xfrm>
          <a:prstGeom prst="rect">
            <a:avLst/>
          </a:prstGeom>
          <a:solidFill>
            <a:srgbClr val="082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Open Runde" panose="00000500000000000000" pitchFamily="50" charset="0"/>
              <a:ea typeface="Open Runde" panose="00000500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5B686-860A-484E-8C90-94EE20FFD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96" b="18196"/>
          <a:stretch/>
        </p:blipFill>
        <p:spPr>
          <a:xfrm>
            <a:off x="-2660349" y="1292343"/>
            <a:ext cx="6596554" cy="5591055"/>
          </a:xfrm>
          <a:prstGeom prst="parallelogram">
            <a:avLst>
              <a:gd name="adj" fmla="val 49151"/>
            </a:avLst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3A97EDE-6209-4B86-A43A-AF9D91995E71}"/>
              </a:ext>
            </a:extLst>
          </p:cNvPr>
          <p:cNvSpPr txBox="1"/>
          <p:nvPr/>
        </p:nvSpPr>
        <p:spPr>
          <a:xfrm>
            <a:off x="3355099" y="2851649"/>
            <a:ext cx="55033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solidFill>
                  <a:schemeClr val="bg1"/>
                </a:solidFill>
                <a:latin typeface="Roboco"/>
              </a:rPr>
              <a:t> Enfoque en la Licitación:</a:t>
            </a:r>
            <a:r>
              <a:rPr lang="es-ES" sz="2000" dirty="0">
                <a:solidFill>
                  <a:schemeClr val="bg1"/>
                </a:solidFill>
                <a:latin typeface="Roboco"/>
              </a:rPr>
              <a:t> Por la naturaleza de este dossier, la propuesta económica específica se detalla en el </a:t>
            </a:r>
            <a:r>
              <a:rPr lang="es-ES" sz="2000" b="1" dirty="0">
                <a:solidFill>
                  <a:schemeClr val="bg1"/>
                </a:solidFill>
                <a:latin typeface="Roboco"/>
              </a:rPr>
              <a:t>pliego técnico adjunto</a:t>
            </a:r>
            <a:r>
              <a:rPr lang="es-ES" sz="2000" dirty="0">
                <a:solidFill>
                  <a:schemeClr val="bg1"/>
                </a:solidFill>
                <a:latin typeface="Roboco"/>
              </a:rPr>
              <a:t>, adaptado a las especificaciones del proyecto. Nuestro compromiso es presentar una </a:t>
            </a:r>
            <a:r>
              <a:rPr lang="es-ES" sz="2000" b="1" dirty="0">
                <a:solidFill>
                  <a:schemeClr val="bg1"/>
                </a:solidFill>
                <a:latin typeface="Roboco"/>
              </a:rPr>
              <a:t>oferta robusta y competitiva</a:t>
            </a:r>
            <a:r>
              <a:rPr lang="es-ES" sz="2000" dirty="0">
                <a:solidFill>
                  <a:schemeClr val="bg1"/>
                </a:solidFill>
                <a:latin typeface="Roboco"/>
              </a:rPr>
              <a:t>, garantizando máxima calidad técnica y cumplimiento de plazos.</a:t>
            </a:r>
            <a:endParaRPr lang="es-ES" sz="2000" dirty="0">
              <a:solidFill>
                <a:schemeClr val="bg1"/>
              </a:solidFill>
              <a:latin typeface="Roboco"/>
              <a:ea typeface="Roboto" panose="02000000000000000000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95E051-1A05-40A3-9C3C-9C8FAF27B915}"/>
              </a:ext>
            </a:extLst>
          </p:cNvPr>
          <p:cNvGrpSpPr/>
          <p:nvPr/>
        </p:nvGrpSpPr>
        <p:grpSpPr>
          <a:xfrm>
            <a:off x="-125121" y="67726"/>
            <a:ext cx="4521963" cy="821927"/>
            <a:chOff x="-125121" y="-2"/>
            <a:chExt cx="4521963" cy="821927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23373FBC-1C3B-4394-8286-1E069EB86808}"/>
                </a:ext>
              </a:extLst>
            </p:cNvPr>
            <p:cNvSpPr/>
            <p:nvPr/>
          </p:nvSpPr>
          <p:spPr>
            <a:xfrm>
              <a:off x="-125121" y="4299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b="1" dirty="0">
                  <a:latin typeface="Roboco"/>
                </a:rPr>
                <a:t>Enfoque de Licitación</a:t>
              </a:r>
              <a:endParaRPr lang="es-VE" sz="2400" b="1" dirty="0">
                <a:solidFill>
                  <a:schemeClr val="bg1"/>
                </a:solidFill>
                <a:latin typeface="Roboco"/>
                <a:ea typeface="Roboto Medium" panose="02000000000000000000" pitchFamily="2" charset="0"/>
              </a:endParaRP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06BD9B41-6D73-4C90-83A8-365D8268D68D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ECADA063-F460-46A5-A21A-67729AA7B732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0FC3AC30-8667-4B4B-BC0A-2D2A83BF08F9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8" name="Arrow: Chevron 67">
              <a:extLst>
                <a:ext uri="{FF2B5EF4-FFF2-40B4-BE49-F238E27FC236}">
                  <a16:creationId xmlns:a16="http://schemas.microsoft.com/office/drawing/2014/main" id="{DB17CD1B-EFE9-43B2-9A6A-C1F4830B3506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357060B2-DE9A-8616-5C7B-5791DFD37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38117" y="0"/>
            <a:ext cx="3586614" cy="126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3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BB0533-7044-48B8-BB8D-E107DB2A9369}"/>
              </a:ext>
            </a:extLst>
          </p:cNvPr>
          <p:cNvSpPr/>
          <p:nvPr/>
        </p:nvSpPr>
        <p:spPr>
          <a:xfrm>
            <a:off x="285548" y="1279643"/>
            <a:ext cx="8858452" cy="5565657"/>
          </a:xfrm>
          <a:prstGeom prst="rect">
            <a:avLst/>
          </a:prstGeom>
          <a:solidFill>
            <a:srgbClr val="082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Open Runde" panose="00000500000000000000" pitchFamily="50" charset="0"/>
              <a:ea typeface="Open Runde" panose="00000500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5B686-860A-484E-8C90-94EE20FFD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62" b="15562"/>
          <a:stretch/>
        </p:blipFill>
        <p:spPr>
          <a:xfrm>
            <a:off x="-2867007" y="1266945"/>
            <a:ext cx="6596554" cy="5591055"/>
          </a:xfrm>
          <a:prstGeom prst="parallelogram">
            <a:avLst>
              <a:gd name="adj" fmla="val 49151"/>
            </a:avLst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3A97EDE-6209-4B86-A43A-AF9D91995E71}"/>
              </a:ext>
            </a:extLst>
          </p:cNvPr>
          <p:cNvSpPr txBox="1"/>
          <p:nvPr/>
        </p:nvSpPr>
        <p:spPr>
          <a:xfrm>
            <a:off x="3936205" y="1545015"/>
            <a:ext cx="510656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Roboco"/>
              </a:rPr>
              <a:t>-Contrato / Pedido de obra. </a:t>
            </a:r>
          </a:p>
          <a:p>
            <a:r>
              <a:rPr lang="es-ES" dirty="0">
                <a:solidFill>
                  <a:schemeClr val="bg1"/>
                </a:solidFill>
                <a:latin typeface="Roboco"/>
              </a:rPr>
              <a:t>-PSS y Evaluaciones de Riesgo.</a:t>
            </a:r>
          </a:p>
          <a:p>
            <a:r>
              <a:rPr lang="es-ES" dirty="0">
                <a:solidFill>
                  <a:schemeClr val="bg1"/>
                </a:solidFill>
                <a:latin typeface="Roboco"/>
              </a:rPr>
              <a:t>-Plan de Calidad (</a:t>
            </a:r>
            <a:r>
              <a:rPr lang="es-ES" dirty="0" err="1">
                <a:solidFill>
                  <a:schemeClr val="bg1"/>
                </a:solidFill>
                <a:latin typeface="Roboco"/>
              </a:rPr>
              <a:t>ITPs</a:t>
            </a:r>
            <a:r>
              <a:rPr lang="es-ES" dirty="0">
                <a:solidFill>
                  <a:schemeClr val="bg1"/>
                </a:solidFill>
                <a:latin typeface="Roboco"/>
              </a:rPr>
              <a:t>, </a:t>
            </a:r>
            <a:r>
              <a:rPr lang="es-ES" dirty="0" err="1">
                <a:solidFill>
                  <a:schemeClr val="bg1"/>
                </a:solidFill>
                <a:latin typeface="Roboco"/>
              </a:rPr>
              <a:t>checklists</a:t>
            </a:r>
            <a:r>
              <a:rPr lang="es-ES" dirty="0">
                <a:solidFill>
                  <a:schemeClr val="bg1"/>
                </a:solidFill>
                <a:latin typeface="Roboco"/>
              </a:rPr>
              <a:t>, trazabilidad).</a:t>
            </a:r>
          </a:p>
          <a:p>
            <a:r>
              <a:rPr lang="es-ES" dirty="0">
                <a:solidFill>
                  <a:schemeClr val="bg1"/>
                </a:solidFill>
                <a:latin typeface="Roboco"/>
              </a:rPr>
              <a:t>Certificados de materiales, ensayos y conformidad CE.</a:t>
            </a:r>
          </a:p>
          <a:p>
            <a:r>
              <a:rPr lang="es-ES" dirty="0">
                <a:solidFill>
                  <a:schemeClr val="bg1"/>
                </a:solidFill>
                <a:latin typeface="Roboco"/>
              </a:rPr>
              <a:t>-Protocolos: aislamiento, continuidad, protecciones.</a:t>
            </a:r>
          </a:p>
          <a:p>
            <a:r>
              <a:rPr lang="es-ES" dirty="0">
                <a:solidFill>
                  <a:schemeClr val="bg1"/>
                </a:solidFill>
                <a:latin typeface="Roboco"/>
              </a:rPr>
              <a:t>-Planos “as </a:t>
            </a:r>
            <a:r>
              <a:rPr lang="es-ES" dirty="0" err="1">
                <a:solidFill>
                  <a:schemeClr val="bg1"/>
                </a:solidFill>
                <a:latin typeface="Roboco"/>
              </a:rPr>
              <a:t>built</a:t>
            </a:r>
            <a:r>
              <a:rPr lang="es-ES" dirty="0">
                <a:solidFill>
                  <a:schemeClr val="bg1"/>
                </a:solidFill>
                <a:latin typeface="Roboco"/>
              </a:rPr>
              <a:t>”, manuales y dossier de cierre.</a:t>
            </a:r>
          </a:p>
          <a:p>
            <a:endParaRPr lang="es-ES" dirty="0">
              <a:solidFill>
                <a:schemeClr val="bg1"/>
              </a:solidFill>
              <a:latin typeface="Roboco"/>
            </a:endParaRPr>
          </a:p>
          <a:p>
            <a:r>
              <a:rPr lang="es-ES" dirty="0">
                <a:solidFill>
                  <a:schemeClr val="bg1"/>
                </a:solidFill>
                <a:latin typeface="Roboco"/>
              </a:rPr>
              <a:t>Estamos convencidos de que esta propuesta reforzará la infraestructura eléctrica y operativa de su proyecto con Grupo Cobra y facilitará un desarrollo </a:t>
            </a:r>
            <a:r>
              <a:rPr lang="es-ES" b="1" dirty="0">
                <a:solidFill>
                  <a:schemeClr val="bg1"/>
                </a:solidFill>
                <a:latin typeface="Roboco"/>
              </a:rPr>
              <a:t>seguro</a:t>
            </a:r>
            <a:r>
              <a:rPr lang="es-ES" dirty="0">
                <a:solidFill>
                  <a:schemeClr val="bg1"/>
                </a:solidFill>
                <a:latin typeface="Roboco"/>
              </a:rPr>
              <a:t> y de </a:t>
            </a:r>
            <a:r>
              <a:rPr lang="es-ES" b="1" dirty="0">
                <a:solidFill>
                  <a:schemeClr val="bg1"/>
                </a:solidFill>
                <a:latin typeface="Roboco"/>
              </a:rPr>
              <a:t>alto desempeño</a:t>
            </a:r>
            <a:r>
              <a:rPr lang="es-ES" dirty="0">
                <a:solidFill>
                  <a:schemeClr val="bg1"/>
                </a:solidFill>
                <a:latin typeface="Roboco"/>
              </a:rPr>
              <a:t>.</a:t>
            </a:r>
            <a:br>
              <a:rPr lang="es-ES" dirty="0">
                <a:solidFill>
                  <a:schemeClr val="bg1"/>
                </a:solidFill>
                <a:latin typeface="Roboco"/>
              </a:rPr>
            </a:br>
            <a:r>
              <a:rPr lang="es-ES" dirty="0">
                <a:solidFill>
                  <a:schemeClr val="bg1"/>
                </a:solidFill>
                <a:latin typeface="Roboco"/>
              </a:rPr>
              <a:t>Nuestro equipo, liderado por </a:t>
            </a:r>
            <a:r>
              <a:rPr lang="es-ES" b="1" dirty="0">
                <a:solidFill>
                  <a:schemeClr val="bg1"/>
                </a:solidFill>
                <a:latin typeface="Roboco"/>
              </a:rPr>
              <a:t>José Antonio Fleitas Martínez</a:t>
            </a:r>
            <a:r>
              <a:rPr lang="es-ES" dirty="0">
                <a:solidFill>
                  <a:schemeClr val="bg1"/>
                </a:solidFill>
                <a:latin typeface="Roboco"/>
              </a:rPr>
              <a:t>, queda a disposición para ajustar cualquier aspecto técnico o de cronograma, alineándonos con sus objetivos.</a:t>
            </a:r>
            <a:br>
              <a:rPr lang="es-ES" dirty="0">
                <a:solidFill>
                  <a:schemeClr val="bg1"/>
                </a:solidFill>
                <a:latin typeface="Roboco"/>
              </a:rPr>
            </a:br>
            <a:r>
              <a:rPr lang="es-ES" b="1" dirty="0">
                <a:solidFill>
                  <a:schemeClr val="bg1"/>
                </a:solidFill>
                <a:latin typeface="Roboco"/>
              </a:rPr>
              <a:t>Gracias por su tiempo y consideración.</a:t>
            </a:r>
            <a:endParaRPr lang="es-ES" dirty="0">
              <a:solidFill>
                <a:schemeClr val="bg1"/>
              </a:solidFill>
              <a:latin typeface="Roboco"/>
            </a:endParaRPr>
          </a:p>
          <a:p>
            <a:pPr algn="just"/>
            <a:endParaRPr lang="es-E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95E051-1A05-40A3-9C3C-9C8FAF27B915}"/>
              </a:ext>
            </a:extLst>
          </p:cNvPr>
          <p:cNvGrpSpPr/>
          <p:nvPr/>
        </p:nvGrpSpPr>
        <p:grpSpPr>
          <a:xfrm>
            <a:off x="-108708" y="67726"/>
            <a:ext cx="4505550" cy="778937"/>
            <a:chOff x="-108708" y="-2"/>
            <a:chExt cx="4505550" cy="778937"/>
          </a:xfrm>
        </p:grpSpPr>
        <p:sp>
          <p:nvSpPr>
            <p:cNvPr id="64" name="Arrow: Chevron 63">
              <a:extLst>
                <a:ext uri="{FF2B5EF4-FFF2-40B4-BE49-F238E27FC236}">
                  <a16:creationId xmlns:a16="http://schemas.microsoft.com/office/drawing/2014/main" id="{23373FBC-1C3B-4394-8286-1E069EB86808}"/>
                </a:ext>
              </a:extLst>
            </p:cNvPr>
            <p:cNvSpPr/>
            <p:nvPr/>
          </p:nvSpPr>
          <p:spPr>
            <a:xfrm>
              <a:off x="-108708" y="0"/>
              <a:ext cx="3584275" cy="778935"/>
            </a:xfrm>
            <a:prstGeom prst="chevron">
              <a:avLst>
                <a:gd name="adj" fmla="val 11607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s-ES" sz="2400" b="1" dirty="0">
                  <a:latin typeface="Roboco"/>
                </a:rPr>
                <a:t>Contratos y Documentación</a:t>
              </a:r>
              <a:endParaRPr lang="es-VE" sz="2400" b="1" dirty="0">
                <a:solidFill>
                  <a:schemeClr val="bg1"/>
                </a:solidFill>
                <a:latin typeface="Roboco"/>
                <a:ea typeface="Roboto Medium" panose="02000000000000000000" pitchFamily="2" charset="0"/>
              </a:endParaRP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06BD9B41-6D73-4C90-83A8-365D8268D68D}"/>
                </a:ext>
              </a:extLst>
            </p:cNvPr>
            <p:cNvSpPr/>
            <p:nvPr/>
          </p:nvSpPr>
          <p:spPr>
            <a:xfrm>
              <a:off x="3409553" y="-1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6" name="Arrow: Chevron 65">
              <a:extLst>
                <a:ext uri="{FF2B5EF4-FFF2-40B4-BE49-F238E27FC236}">
                  <a16:creationId xmlns:a16="http://schemas.microsoft.com/office/drawing/2014/main" id="{ECADA063-F460-46A5-A21A-67729AA7B732}"/>
                </a:ext>
              </a:extLst>
            </p:cNvPr>
            <p:cNvSpPr/>
            <p:nvPr/>
          </p:nvSpPr>
          <p:spPr>
            <a:xfrm>
              <a:off x="3639872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7" name="Arrow: Chevron 66">
              <a:extLst>
                <a:ext uri="{FF2B5EF4-FFF2-40B4-BE49-F238E27FC236}">
                  <a16:creationId xmlns:a16="http://schemas.microsoft.com/office/drawing/2014/main" id="{0FC3AC30-8667-4B4B-BC0A-2D2A83BF08F9}"/>
                </a:ext>
              </a:extLst>
            </p:cNvPr>
            <p:cNvSpPr/>
            <p:nvPr/>
          </p:nvSpPr>
          <p:spPr>
            <a:xfrm>
              <a:off x="3870191" y="-2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  <p:sp>
          <p:nvSpPr>
            <p:cNvPr id="68" name="Arrow: Chevron 67">
              <a:extLst>
                <a:ext uri="{FF2B5EF4-FFF2-40B4-BE49-F238E27FC236}">
                  <a16:creationId xmlns:a16="http://schemas.microsoft.com/office/drawing/2014/main" id="{DB17CD1B-EFE9-43B2-9A6A-C1F4830B3506}"/>
                </a:ext>
              </a:extLst>
            </p:cNvPr>
            <p:cNvSpPr/>
            <p:nvPr/>
          </p:nvSpPr>
          <p:spPr>
            <a:xfrm>
              <a:off x="4100509" y="0"/>
              <a:ext cx="296333" cy="778935"/>
            </a:xfrm>
            <a:prstGeom prst="chevron">
              <a:avLst>
                <a:gd name="adj" fmla="val 31419"/>
              </a:avLst>
            </a:prstGeom>
            <a:solidFill>
              <a:srgbClr val="082A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>
                <a:solidFill>
                  <a:schemeClr val="tx1"/>
                </a:solidFill>
              </a:endParaRPr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E20347F5-F5CF-D496-4F8F-926557F4C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7797" y="12700"/>
            <a:ext cx="3936203" cy="121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5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6291</TotalTime>
  <Words>675</Words>
  <Application>Microsoft Office PowerPoint</Application>
  <PresentationFormat>Carta (216 x 279 mm)</PresentationFormat>
  <Paragraphs>73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Light</vt:lpstr>
      <vt:lpstr>Campton Semi-Bold</vt:lpstr>
      <vt:lpstr>Open Runde</vt:lpstr>
      <vt:lpstr>Roboco</vt:lpstr>
      <vt:lpstr>Roboto</vt:lpstr>
      <vt:lpstr>Roboto Black</vt:lpstr>
      <vt:lpstr>Roboto Medium</vt:lpstr>
      <vt:lpstr>Rocolo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Dirección de Operaciones Xcertus LLC</dc:creator>
  <cp:lastModifiedBy>Laura Martinez</cp:lastModifiedBy>
  <cp:revision>76</cp:revision>
  <dcterms:created xsi:type="dcterms:W3CDTF">2025-03-09T14:34:57Z</dcterms:created>
  <dcterms:modified xsi:type="dcterms:W3CDTF">2025-12-18T11:00:13Z</dcterms:modified>
</cp:coreProperties>
</file>